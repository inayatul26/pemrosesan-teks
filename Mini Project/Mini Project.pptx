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Lst>
  <p:sldSz cx="18288000" cy="10287000"/>
  <p:notesSz cx="6858000" cy="9144000"/>
  <p:embeddedFontLst>
    <p:embeddedFont>
      <p:font typeface="Montserrat Bold" charset="1" panose="00000800000000000000"/>
      <p:regular r:id="rId28"/>
    </p:embeddedFont>
    <p:embeddedFont>
      <p:font typeface="Clear Sans Bold" charset="1" panose="020B0803030202020304"/>
      <p:regular r:id="rId29"/>
    </p:embeddedFont>
    <p:embeddedFont>
      <p:font typeface="Clear Sans" charset="1" panose="020B0503030202020304"/>
      <p:regular r:id="rId30"/>
    </p:embeddedFont>
    <p:embeddedFont>
      <p:font typeface="League Spartan" charset="1" panose="00000800000000000000"/>
      <p:regular r:id="rId31"/>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27" Target="slides/slide22.xml" Type="http://schemas.openxmlformats.org/officeDocument/2006/relationships/slide"/><Relationship Id="rId28" Target="fonts/font28.fntdata" Type="http://schemas.openxmlformats.org/officeDocument/2006/relationships/font"/><Relationship Id="rId29" Target="fonts/font29.fntdata" Type="http://schemas.openxmlformats.org/officeDocument/2006/relationships/font"/><Relationship Id="rId3" Target="viewProps.xml" Type="http://schemas.openxmlformats.org/officeDocument/2006/relationships/viewProps"/><Relationship Id="rId30" Target="fonts/font30.fntdata" Type="http://schemas.openxmlformats.org/officeDocument/2006/relationships/font"/><Relationship Id="rId31" Target="fonts/font31.fntdata" Type="http://schemas.openxmlformats.org/officeDocument/2006/relationships/font"/><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 Id="rId7" Target="../media/image6.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7.png" Type="http://schemas.openxmlformats.org/officeDocument/2006/relationships/image"/><Relationship Id="rId6" Target="../media/image4.png" Type="http://schemas.openxmlformats.org/officeDocument/2006/relationships/image"/><Relationship Id="rId7" Target="../media/image5.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1.svg" Type="http://schemas.openxmlformats.org/officeDocument/2006/relationships/image"/><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 Id="rId7" Target="../media/image8.png" Type="http://schemas.openxmlformats.org/officeDocument/2006/relationships/image"/><Relationship Id="rId8" Target="../media/image9.svg" Type="http://schemas.openxmlformats.org/officeDocument/2006/relationships/image"/><Relationship Id="rId9" Target="../media/image10.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 Id="rId7" Target="../media/image12.png" Type="http://schemas.openxmlformats.org/officeDocument/2006/relationships/image"/><Relationship Id="rId8" Target="../media/image13.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 Id="rId7" Target="../media/image14.png" Type="http://schemas.openxmlformats.org/officeDocument/2006/relationships/image"/><Relationship Id="rId8" Target="../media/image15.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 Id="rId7" Target="../media/image16.png" Type="http://schemas.openxmlformats.org/officeDocument/2006/relationships/image"/><Relationship Id="rId8" Target="../media/image17.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18.png" Type="http://schemas.openxmlformats.org/officeDocument/2006/relationships/image"/><Relationship Id="rId6" Target="../media/image4.png" Type="http://schemas.openxmlformats.org/officeDocument/2006/relationships/image"/><Relationship Id="rId7" Target="../media/image5.svg" Type="http://schemas.openxmlformats.org/officeDocument/2006/relationships/image"/><Relationship Id="rId8" Target="../media/image19.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 Id="rId7" Target="../media/image20.png" Type="http://schemas.openxmlformats.org/officeDocument/2006/relationships/image"/><Relationship Id="rId8" Target="../media/image21.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 Id="rId7" Target="../media/image22.png" Type="http://schemas.openxmlformats.org/officeDocument/2006/relationships/image"/><Relationship Id="rId8" Target="../media/image23.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 Id="rId7" Target="../media/image24.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 Id="rId7" Target="../media/image25.png" Type="http://schemas.openxmlformats.org/officeDocument/2006/relationships/image"/><Relationship Id="rId8" Target="../media/image26.png" Type="http://schemas.openxmlformats.org/officeDocument/2006/relationships/image"/><Relationship Id="rId9" Target="../media/image27.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 Id="rId7" Target="../media/image28.png" Type="http://schemas.openxmlformats.org/officeDocument/2006/relationships/image"/><Relationship Id="rId8" Target="../media/image29.png" Type="http://schemas.openxmlformats.org/officeDocument/2006/relationships/image"/><Relationship Id="rId9" Target="../media/image30.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 Id="rId7" Target="../media/image31.pn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 Id="rId7" Target="../media/image32.pn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 Id="rId7" Target="../media/image33.pn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34.png" Type="http://schemas.openxmlformats.org/officeDocument/2006/relationships/image"/><Relationship Id="rId6" Target="../media/image35.png" Type="http://schemas.openxmlformats.org/officeDocument/2006/relationships/image"/><Relationship Id="rId7" Target="../media/image36.pn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37.png" Type="http://schemas.openxmlformats.org/officeDocument/2006/relationships/image"/><Relationship Id="rId6" Target="../media/image38.png" Type="http://schemas.openxmlformats.org/officeDocument/2006/relationships/image"/><Relationship Id="rId7" Target="../media/image39.pn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0.png" Type="http://schemas.openxmlformats.org/officeDocument/2006/relationships/image"/><Relationship Id="rId6" Target="../media/image41.png" Type="http://schemas.openxmlformats.org/officeDocument/2006/relationships/image"/><Relationship Id="rId7" Target="../media/image42.png" Type="http://schemas.openxmlformats.org/officeDocument/2006/relationships/image"/></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s>
</file>

<file path=ppt/slides/_rels/slide2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6250" t="0" r="-6250" b="0"/>
            </a:stretch>
          </a:blipFill>
        </p:spPr>
      </p:sp>
      <p:sp>
        <p:nvSpPr>
          <p:cNvPr name="Freeform 3" id="3"/>
          <p:cNvSpPr/>
          <p:nvPr/>
        </p:nvSpPr>
        <p:spPr>
          <a:xfrm flipH="false" flipV="false" rot="0">
            <a:off x="12115800" y="0"/>
            <a:ext cx="5143500" cy="5143500"/>
          </a:xfrm>
          <a:custGeom>
            <a:avLst/>
            <a:gdLst/>
            <a:ahLst/>
            <a:cxnLst/>
            <a:rect r="r" b="b" t="t" l="l"/>
            <a:pathLst>
              <a:path h="5143500" w="5143500">
                <a:moveTo>
                  <a:pt x="0" y="0"/>
                </a:moveTo>
                <a:lnTo>
                  <a:pt x="5143500" y="0"/>
                </a:lnTo>
                <a:lnTo>
                  <a:pt x="5143500" y="5143500"/>
                </a:lnTo>
                <a:lnTo>
                  <a:pt x="0" y="514350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12115800" y="5143500"/>
            <a:ext cx="5143500" cy="5143500"/>
          </a:xfrm>
          <a:custGeom>
            <a:avLst/>
            <a:gdLst/>
            <a:ahLst/>
            <a:cxnLst/>
            <a:rect r="r" b="b" t="t" l="l"/>
            <a:pathLst>
              <a:path h="5143500" w="5143500">
                <a:moveTo>
                  <a:pt x="0" y="0"/>
                </a:moveTo>
                <a:lnTo>
                  <a:pt x="5143500" y="0"/>
                </a:lnTo>
                <a:lnTo>
                  <a:pt x="5143500" y="5143500"/>
                </a:lnTo>
                <a:lnTo>
                  <a:pt x="0" y="514350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5" id="5"/>
          <p:cNvGrpSpPr/>
          <p:nvPr/>
        </p:nvGrpSpPr>
        <p:grpSpPr>
          <a:xfrm rot="0">
            <a:off x="1028700" y="-900402"/>
            <a:ext cx="1192759" cy="3086100"/>
            <a:chOff x="0" y="0"/>
            <a:chExt cx="314142" cy="812800"/>
          </a:xfrm>
        </p:grpSpPr>
        <p:sp>
          <p:nvSpPr>
            <p:cNvPr name="Freeform 6" id="6"/>
            <p:cNvSpPr/>
            <p:nvPr/>
          </p:nvSpPr>
          <p:spPr>
            <a:xfrm flipH="false" flipV="false" rot="0">
              <a:off x="0" y="0"/>
              <a:ext cx="314142" cy="812800"/>
            </a:xfrm>
            <a:custGeom>
              <a:avLst/>
              <a:gdLst/>
              <a:ahLst/>
              <a:cxnLst/>
              <a:rect r="r" b="b" t="t" l="l"/>
              <a:pathLst>
                <a:path h="812800" w="314142">
                  <a:moveTo>
                    <a:pt x="0" y="0"/>
                  </a:moveTo>
                  <a:lnTo>
                    <a:pt x="314142" y="0"/>
                  </a:lnTo>
                  <a:lnTo>
                    <a:pt x="314142" y="812800"/>
                  </a:lnTo>
                  <a:lnTo>
                    <a:pt x="0" y="812800"/>
                  </a:lnTo>
                  <a:close/>
                </a:path>
              </a:pathLst>
            </a:custGeom>
            <a:solidFill>
              <a:srgbClr val="004AAD"/>
            </a:solidFill>
          </p:spPr>
        </p:sp>
        <p:sp>
          <p:nvSpPr>
            <p:cNvPr name="TextBox 7" id="7"/>
            <p:cNvSpPr txBox="true"/>
            <p:nvPr/>
          </p:nvSpPr>
          <p:spPr>
            <a:xfrm>
              <a:off x="0" y="-28575"/>
              <a:ext cx="314142" cy="841375"/>
            </a:xfrm>
            <a:prstGeom prst="rect">
              <a:avLst/>
            </a:prstGeom>
          </p:spPr>
          <p:txBody>
            <a:bodyPr anchor="ctr" rtlCol="false" tIns="50800" lIns="50800" bIns="50800" rIns="50800"/>
            <a:lstStyle/>
            <a:p>
              <a:pPr algn="ctr">
                <a:lnSpc>
                  <a:spcPts val="2659"/>
                </a:lnSpc>
              </a:pPr>
            </a:p>
          </p:txBody>
        </p:sp>
      </p:grpSp>
      <p:sp>
        <p:nvSpPr>
          <p:cNvPr name="TextBox 8" id="8"/>
          <p:cNvSpPr txBox="true"/>
          <p:nvPr/>
        </p:nvSpPr>
        <p:spPr>
          <a:xfrm rot="0">
            <a:off x="1028700" y="3645549"/>
            <a:ext cx="10794469" cy="2686050"/>
          </a:xfrm>
          <a:prstGeom prst="rect">
            <a:avLst/>
          </a:prstGeom>
        </p:spPr>
        <p:txBody>
          <a:bodyPr anchor="t" rtlCol="false" tIns="0" lIns="0" bIns="0" rIns="0">
            <a:spAutoFit/>
          </a:bodyPr>
          <a:lstStyle/>
          <a:p>
            <a:pPr algn="ctr">
              <a:lnSpc>
                <a:spcPts val="5250"/>
              </a:lnSpc>
            </a:pPr>
            <a:r>
              <a:rPr lang="en-US" sz="5000" b="true">
                <a:solidFill>
                  <a:srgbClr val="2D1A52"/>
                </a:solidFill>
                <a:latin typeface="Montserrat Bold"/>
                <a:ea typeface="Montserrat Bold"/>
                <a:cs typeface="Montserrat Bold"/>
                <a:sym typeface="Montserrat Bold"/>
              </a:rPr>
              <a:t>Analisis Sentimen Ulasan Pengguna pada Aplikasi Belanja Online ( Shopee, Tokopedia, dan Lazada)</a:t>
            </a:r>
          </a:p>
        </p:txBody>
      </p:sp>
      <p:sp>
        <p:nvSpPr>
          <p:cNvPr name="Freeform 9" id="9"/>
          <p:cNvSpPr/>
          <p:nvPr/>
        </p:nvSpPr>
        <p:spPr>
          <a:xfrm flipH="false" flipV="false" rot="0">
            <a:off x="1028700" y="8751601"/>
            <a:ext cx="3398588" cy="506699"/>
          </a:xfrm>
          <a:custGeom>
            <a:avLst/>
            <a:gdLst/>
            <a:ahLst/>
            <a:cxnLst/>
            <a:rect r="r" b="b" t="t" l="l"/>
            <a:pathLst>
              <a:path h="506699" w="3398588">
                <a:moveTo>
                  <a:pt x="0" y="0"/>
                </a:moveTo>
                <a:lnTo>
                  <a:pt x="3398588" y="0"/>
                </a:lnTo>
                <a:lnTo>
                  <a:pt x="3398588" y="506699"/>
                </a:lnTo>
                <a:lnTo>
                  <a:pt x="0" y="506699"/>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10" id="10"/>
          <p:cNvSpPr txBox="true"/>
          <p:nvPr/>
        </p:nvSpPr>
        <p:spPr>
          <a:xfrm rot="0">
            <a:off x="1028700" y="7639050"/>
            <a:ext cx="9443392" cy="745433"/>
          </a:xfrm>
          <a:prstGeom prst="rect">
            <a:avLst/>
          </a:prstGeom>
        </p:spPr>
        <p:txBody>
          <a:bodyPr anchor="t" rtlCol="false" tIns="0" lIns="0" bIns="0" rIns="0">
            <a:spAutoFit/>
          </a:bodyPr>
          <a:lstStyle/>
          <a:p>
            <a:pPr algn="l">
              <a:lnSpc>
                <a:spcPts val="6163"/>
              </a:lnSpc>
            </a:pPr>
            <a:r>
              <a:rPr lang="en-US" sz="4402" b="true">
                <a:solidFill>
                  <a:srgbClr val="2D1A52"/>
                </a:solidFill>
                <a:latin typeface="Clear Sans Bold"/>
                <a:ea typeface="Clear Sans Bold"/>
                <a:cs typeface="Clear Sans Bold"/>
                <a:sym typeface="Clear Sans Bold"/>
              </a:rPr>
              <a:t>Siti Inayatul Mufidah (5220411319)</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6250" t="0" r="-6250" b="0"/>
            </a:stretch>
          </a:blipFill>
        </p:spPr>
      </p:sp>
      <p:sp>
        <p:nvSpPr>
          <p:cNvPr name="Freeform 3" id="3"/>
          <p:cNvSpPr/>
          <p:nvPr/>
        </p:nvSpPr>
        <p:spPr>
          <a:xfrm flipH="false" flipV="false" rot="0">
            <a:off x="14356254" y="0"/>
            <a:ext cx="5143500" cy="5143500"/>
          </a:xfrm>
          <a:custGeom>
            <a:avLst/>
            <a:gdLst/>
            <a:ahLst/>
            <a:cxnLst/>
            <a:rect r="r" b="b" t="t" l="l"/>
            <a:pathLst>
              <a:path h="5143500" w="5143500">
                <a:moveTo>
                  <a:pt x="0" y="0"/>
                </a:moveTo>
                <a:lnTo>
                  <a:pt x="5143500" y="0"/>
                </a:lnTo>
                <a:lnTo>
                  <a:pt x="5143500" y="5143500"/>
                </a:lnTo>
                <a:lnTo>
                  <a:pt x="0" y="514350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14356254" y="5143500"/>
            <a:ext cx="5143500" cy="5143500"/>
          </a:xfrm>
          <a:custGeom>
            <a:avLst/>
            <a:gdLst/>
            <a:ahLst/>
            <a:cxnLst/>
            <a:rect r="r" b="b" t="t" l="l"/>
            <a:pathLst>
              <a:path h="5143500" w="5143500">
                <a:moveTo>
                  <a:pt x="0" y="0"/>
                </a:moveTo>
                <a:lnTo>
                  <a:pt x="5143500" y="0"/>
                </a:lnTo>
                <a:lnTo>
                  <a:pt x="5143500" y="5143500"/>
                </a:lnTo>
                <a:lnTo>
                  <a:pt x="0" y="514350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5" id="5"/>
          <p:cNvGrpSpPr/>
          <p:nvPr/>
        </p:nvGrpSpPr>
        <p:grpSpPr>
          <a:xfrm rot="0">
            <a:off x="0" y="0"/>
            <a:ext cx="13162859" cy="1695450"/>
            <a:chOff x="0" y="0"/>
            <a:chExt cx="3466761" cy="446538"/>
          </a:xfrm>
        </p:grpSpPr>
        <p:sp>
          <p:nvSpPr>
            <p:cNvPr name="Freeform 6" id="6"/>
            <p:cNvSpPr/>
            <p:nvPr/>
          </p:nvSpPr>
          <p:spPr>
            <a:xfrm flipH="false" flipV="false" rot="0">
              <a:off x="0" y="0"/>
              <a:ext cx="3466761" cy="446538"/>
            </a:xfrm>
            <a:custGeom>
              <a:avLst/>
              <a:gdLst/>
              <a:ahLst/>
              <a:cxnLst/>
              <a:rect r="r" b="b" t="t" l="l"/>
              <a:pathLst>
                <a:path h="446538" w="3466761">
                  <a:moveTo>
                    <a:pt x="0" y="0"/>
                  </a:moveTo>
                  <a:lnTo>
                    <a:pt x="3466761" y="0"/>
                  </a:lnTo>
                  <a:lnTo>
                    <a:pt x="3466761" y="446538"/>
                  </a:lnTo>
                  <a:lnTo>
                    <a:pt x="0" y="446538"/>
                  </a:lnTo>
                  <a:close/>
                </a:path>
              </a:pathLst>
            </a:custGeom>
            <a:solidFill>
              <a:srgbClr val="004AAD"/>
            </a:solidFill>
          </p:spPr>
        </p:sp>
        <p:sp>
          <p:nvSpPr>
            <p:cNvPr name="TextBox 7" id="7"/>
            <p:cNvSpPr txBox="true"/>
            <p:nvPr/>
          </p:nvSpPr>
          <p:spPr>
            <a:xfrm>
              <a:off x="0" y="-28575"/>
              <a:ext cx="3466761" cy="475113"/>
            </a:xfrm>
            <a:prstGeom prst="rect">
              <a:avLst/>
            </a:prstGeom>
          </p:spPr>
          <p:txBody>
            <a:bodyPr anchor="ctr" rtlCol="false" tIns="50800" lIns="50800" bIns="50800" rIns="50800"/>
            <a:lstStyle/>
            <a:p>
              <a:pPr algn="ctr">
                <a:lnSpc>
                  <a:spcPts val="2659"/>
                </a:lnSpc>
              </a:pPr>
            </a:p>
          </p:txBody>
        </p:sp>
      </p:grpSp>
      <p:sp>
        <p:nvSpPr>
          <p:cNvPr name="Freeform 8" id="8"/>
          <p:cNvSpPr/>
          <p:nvPr/>
        </p:nvSpPr>
        <p:spPr>
          <a:xfrm flipH="false" flipV="false" rot="0">
            <a:off x="1028700" y="8862259"/>
            <a:ext cx="2656373" cy="396041"/>
          </a:xfrm>
          <a:custGeom>
            <a:avLst/>
            <a:gdLst/>
            <a:ahLst/>
            <a:cxnLst/>
            <a:rect r="r" b="b" t="t" l="l"/>
            <a:pathLst>
              <a:path h="396041" w="2656373">
                <a:moveTo>
                  <a:pt x="0" y="0"/>
                </a:moveTo>
                <a:lnTo>
                  <a:pt x="2656373" y="0"/>
                </a:lnTo>
                <a:lnTo>
                  <a:pt x="2656373" y="396041"/>
                </a:lnTo>
                <a:lnTo>
                  <a:pt x="0" y="396041"/>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9" id="9"/>
          <p:cNvSpPr txBox="true"/>
          <p:nvPr/>
        </p:nvSpPr>
        <p:spPr>
          <a:xfrm rot="0">
            <a:off x="1625079" y="7192784"/>
            <a:ext cx="11774301" cy="1019822"/>
          </a:xfrm>
          <a:prstGeom prst="rect">
            <a:avLst/>
          </a:prstGeom>
        </p:spPr>
        <p:txBody>
          <a:bodyPr anchor="t" rtlCol="false" tIns="0" lIns="0" bIns="0" rIns="0">
            <a:spAutoFit/>
          </a:bodyPr>
          <a:lstStyle/>
          <a:p>
            <a:pPr algn="just">
              <a:lnSpc>
                <a:spcPts val="4164"/>
              </a:lnSpc>
            </a:pPr>
            <a:r>
              <a:rPr lang="en-US" sz="2974">
                <a:solidFill>
                  <a:srgbClr val="2D1A52"/>
                </a:solidFill>
                <a:latin typeface="Clear Sans"/>
                <a:ea typeface="Clear Sans"/>
                <a:cs typeface="Clear Sans"/>
                <a:sym typeface="Clear Sans"/>
              </a:rPr>
              <a:t>Lazada, Tokopedia, dan Shopee merupakan aplikasi belanja online teratas pada playstore.</a:t>
            </a:r>
          </a:p>
        </p:txBody>
      </p:sp>
      <p:sp>
        <p:nvSpPr>
          <p:cNvPr name="Freeform 10" id="10"/>
          <p:cNvSpPr/>
          <p:nvPr/>
        </p:nvSpPr>
        <p:spPr>
          <a:xfrm flipH="false" flipV="false" rot="0">
            <a:off x="1861600" y="2969195"/>
            <a:ext cx="11301259" cy="3758364"/>
          </a:xfrm>
          <a:custGeom>
            <a:avLst/>
            <a:gdLst/>
            <a:ahLst/>
            <a:cxnLst/>
            <a:rect r="r" b="b" t="t" l="l"/>
            <a:pathLst>
              <a:path h="3758364" w="11301259">
                <a:moveTo>
                  <a:pt x="0" y="0"/>
                </a:moveTo>
                <a:lnTo>
                  <a:pt x="11301259" y="0"/>
                </a:lnTo>
                <a:lnTo>
                  <a:pt x="11301259" y="3758364"/>
                </a:lnTo>
                <a:lnTo>
                  <a:pt x="0" y="3758364"/>
                </a:lnTo>
                <a:lnTo>
                  <a:pt x="0" y="0"/>
                </a:lnTo>
                <a:close/>
              </a:path>
            </a:pathLst>
          </a:custGeom>
          <a:blipFill>
            <a:blip r:embed="rId7"/>
            <a:stretch>
              <a:fillRect l="0" t="-18418" r="0" b="-41326"/>
            </a:stretch>
          </a:blipFill>
        </p:spPr>
      </p:sp>
      <p:sp>
        <p:nvSpPr>
          <p:cNvPr name="TextBox 11" id="11"/>
          <p:cNvSpPr txBox="true"/>
          <p:nvPr/>
        </p:nvSpPr>
        <p:spPr>
          <a:xfrm rot="0">
            <a:off x="488459" y="506413"/>
            <a:ext cx="13327554" cy="606425"/>
          </a:xfrm>
          <a:prstGeom prst="rect">
            <a:avLst/>
          </a:prstGeom>
        </p:spPr>
        <p:txBody>
          <a:bodyPr anchor="t" rtlCol="false" tIns="0" lIns="0" bIns="0" rIns="0">
            <a:spAutoFit/>
          </a:bodyPr>
          <a:lstStyle/>
          <a:p>
            <a:pPr algn="l">
              <a:lnSpc>
                <a:spcPts val="4900"/>
              </a:lnSpc>
            </a:pPr>
            <a:r>
              <a:rPr lang="en-US" sz="3500" b="true">
                <a:solidFill>
                  <a:srgbClr val="FFFFFF"/>
                </a:solidFill>
                <a:latin typeface="Montserrat Bold"/>
                <a:ea typeface="Montserrat Bold"/>
                <a:cs typeface="Montserrat Bold"/>
                <a:sym typeface="Montserrat Bold"/>
              </a:rPr>
              <a:t>APLIKASI BELANJA ONLINE TERATAS DI PLAYSTORE</a:t>
            </a:r>
          </a:p>
        </p:txBody>
      </p:sp>
    </p:spTree>
  </p:cSld>
  <p:clrMapOvr>
    <a:masterClrMapping/>
  </p:clrMapOvr>
  <p:transition spd="fast">
    <p:fade/>
  </p:transition>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6250" t="0" r="-6250" b="0"/>
            </a:stretch>
          </a:blipFill>
        </p:spPr>
      </p:sp>
      <p:sp>
        <p:nvSpPr>
          <p:cNvPr name="Freeform 3" id="3"/>
          <p:cNvSpPr/>
          <p:nvPr/>
        </p:nvSpPr>
        <p:spPr>
          <a:xfrm flipH="false" flipV="false" rot="0">
            <a:off x="15173325" y="0"/>
            <a:ext cx="5143500" cy="5143500"/>
          </a:xfrm>
          <a:custGeom>
            <a:avLst/>
            <a:gdLst/>
            <a:ahLst/>
            <a:cxnLst/>
            <a:rect r="r" b="b" t="t" l="l"/>
            <a:pathLst>
              <a:path h="5143500" w="5143500">
                <a:moveTo>
                  <a:pt x="0" y="0"/>
                </a:moveTo>
                <a:lnTo>
                  <a:pt x="5143500" y="0"/>
                </a:lnTo>
                <a:lnTo>
                  <a:pt x="5143500" y="5143500"/>
                </a:lnTo>
                <a:lnTo>
                  <a:pt x="0" y="514350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15173325" y="5143500"/>
            <a:ext cx="5143500" cy="5143500"/>
          </a:xfrm>
          <a:custGeom>
            <a:avLst/>
            <a:gdLst/>
            <a:ahLst/>
            <a:cxnLst/>
            <a:rect r="r" b="b" t="t" l="l"/>
            <a:pathLst>
              <a:path h="5143500" w="5143500">
                <a:moveTo>
                  <a:pt x="0" y="0"/>
                </a:moveTo>
                <a:lnTo>
                  <a:pt x="5143500" y="0"/>
                </a:lnTo>
                <a:lnTo>
                  <a:pt x="5143500" y="5143500"/>
                </a:lnTo>
                <a:lnTo>
                  <a:pt x="0" y="514350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5" id="5"/>
          <p:cNvGrpSpPr/>
          <p:nvPr/>
        </p:nvGrpSpPr>
        <p:grpSpPr>
          <a:xfrm rot="0">
            <a:off x="0" y="0"/>
            <a:ext cx="5312096" cy="1695450"/>
            <a:chOff x="0" y="0"/>
            <a:chExt cx="1399071" cy="446538"/>
          </a:xfrm>
        </p:grpSpPr>
        <p:sp>
          <p:nvSpPr>
            <p:cNvPr name="Freeform 6" id="6"/>
            <p:cNvSpPr/>
            <p:nvPr/>
          </p:nvSpPr>
          <p:spPr>
            <a:xfrm flipH="false" flipV="false" rot="0">
              <a:off x="0" y="0"/>
              <a:ext cx="1399071" cy="446538"/>
            </a:xfrm>
            <a:custGeom>
              <a:avLst/>
              <a:gdLst/>
              <a:ahLst/>
              <a:cxnLst/>
              <a:rect r="r" b="b" t="t" l="l"/>
              <a:pathLst>
                <a:path h="446538" w="1399071">
                  <a:moveTo>
                    <a:pt x="0" y="0"/>
                  </a:moveTo>
                  <a:lnTo>
                    <a:pt x="1399071" y="0"/>
                  </a:lnTo>
                  <a:lnTo>
                    <a:pt x="1399071" y="446538"/>
                  </a:lnTo>
                  <a:lnTo>
                    <a:pt x="0" y="446538"/>
                  </a:lnTo>
                  <a:close/>
                </a:path>
              </a:pathLst>
            </a:custGeom>
            <a:solidFill>
              <a:srgbClr val="004AAD"/>
            </a:solidFill>
          </p:spPr>
        </p:sp>
        <p:sp>
          <p:nvSpPr>
            <p:cNvPr name="TextBox 7" id="7"/>
            <p:cNvSpPr txBox="true"/>
            <p:nvPr/>
          </p:nvSpPr>
          <p:spPr>
            <a:xfrm>
              <a:off x="0" y="-28575"/>
              <a:ext cx="1399071" cy="475113"/>
            </a:xfrm>
            <a:prstGeom prst="rect">
              <a:avLst/>
            </a:prstGeom>
          </p:spPr>
          <p:txBody>
            <a:bodyPr anchor="ctr" rtlCol="false" tIns="50800" lIns="50800" bIns="50800" rIns="50800"/>
            <a:lstStyle/>
            <a:p>
              <a:pPr algn="ctr">
                <a:lnSpc>
                  <a:spcPts val="2659"/>
                </a:lnSpc>
              </a:pPr>
            </a:p>
          </p:txBody>
        </p:sp>
      </p:grpSp>
      <p:sp>
        <p:nvSpPr>
          <p:cNvPr name="Freeform 8" id="8"/>
          <p:cNvSpPr/>
          <p:nvPr/>
        </p:nvSpPr>
        <p:spPr>
          <a:xfrm flipH="false" flipV="false" rot="0">
            <a:off x="668539" y="2394096"/>
            <a:ext cx="8979638" cy="5945353"/>
          </a:xfrm>
          <a:custGeom>
            <a:avLst/>
            <a:gdLst/>
            <a:ahLst/>
            <a:cxnLst/>
            <a:rect r="r" b="b" t="t" l="l"/>
            <a:pathLst>
              <a:path h="5945353" w="8979638">
                <a:moveTo>
                  <a:pt x="0" y="0"/>
                </a:moveTo>
                <a:lnTo>
                  <a:pt x="8979639" y="0"/>
                </a:lnTo>
                <a:lnTo>
                  <a:pt x="8979639" y="5945353"/>
                </a:lnTo>
                <a:lnTo>
                  <a:pt x="0" y="5945353"/>
                </a:lnTo>
                <a:lnTo>
                  <a:pt x="0" y="0"/>
                </a:lnTo>
                <a:close/>
              </a:path>
            </a:pathLst>
          </a:custGeom>
          <a:blipFill>
            <a:blip r:embed="rId5"/>
            <a:stretch>
              <a:fillRect l="0" t="-416" r="0" b="-416"/>
            </a:stretch>
          </a:blipFill>
        </p:spPr>
      </p:sp>
      <p:sp>
        <p:nvSpPr>
          <p:cNvPr name="Freeform 9" id="9"/>
          <p:cNvSpPr/>
          <p:nvPr/>
        </p:nvSpPr>
        <p:spPr>
          <a:xfrm flipH="false" flipV="false" rot="0">
            <a:off x="1028700" y="9582348"/>
            <a:ext cx="2656373" cy="396041"/>
          </a:xfrm>
          <a:custGeom>
            <a:avLst/>
            <a:gdLst/>
            <a:ahLst/>
            <a:cxnLst/>
            <a:rect r="r" b="b" t="t" l="l"/>
            <a:pathLst>
              <a:path h="396041" w="2656373">
                <a:moveTo>
                  <a:pt x="0" y="0"/>
                </a:moveTo>
                <a:lnTo>
                  <a:pt x="2656373" y="0"/>
                </a:lnTo>
                <a:lnTo>
                  <a:pt x="2656373" y="396041"/>
                </a:lnTo>
                <a:lnTo>
                  <a:pt x="0" y="396041"/>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10" id="10"/>
          <p:cNvSpPr txBox="true"/>
          <p:nvPr/>
        </p:nvSpPr>
        <p:spPr>
          <a:xfrm rot="0">
            <a:off x="10042801" y="2346471"/>
            <a:ext cx="3948418" cy="7306322"/>
          </a:xfrm>
          <a:prstGeom prst="rect">
            <a:avLst/>
          </a:prstGeom>
        </p:spPr>
        <p:txBody>
          <a:bodyPr anchor="t" rtlCol="false" tIns="0" lIns="0" bIns="0" rIns="0">
            <a:spAutoFit/>
          </a:bodyPr>
          <a:lstStyle/>
          <a:p>
            <a:pPr algn="just">
              <a:lnSpc>
                <a:spcPts val="4164"/>
              </a:lnSpc>
            </a:pPr>
            <a:r>
              <a:rPr lang="en-US" sz="2974">
                <a:solidFill>
                  <a:srgbClr val="2D1A52"/>
                </a:solidFill>
                <a:latin typeface="Clear Sans"/>
                <a:ea typeface="Clear Sans"/>
                <a:cs typeface="Clear Sans"/>
                <a:sym typeface="Clear Sans"/>
              </a:rPr>
              <a:t>Dataset yang digunakan berasal dari hasil scraping ulasan pengguna aplikasi belanja online dengan total 7.500 data ulasan dengan masing-masing aplikasi memiliki jumlah data sebanyak 2.500 data. Data mencakup teks ulasan, skor penilaian, dan nama aplikasi.</a:t>
            </a:r>
          </a:p>
        </p:txBody>
      </p:sp>
      <p:sp>
        <p:nvSpPr>
          <p:cNvPr name="TextBox 11" id="11"/>
          <p:cNvSpPr txBox="true"/>
          <p:nvPr/>
        </p:nvSpPr>
        <p:spPr>
          <a:xfrm rot="0">
            <a:off x="668539" y="506413"/>
            <a:ext cx="10775358" cy="606425"/>
          </a:xfrm>
          <a:prstGeom prst="rect">
            <a:avLst/>
          </a:prstGeom>
        </p:spPr>
        <p:txBody>
          <a:bodyPr anchor="t" rtlCol="false" tIns="0" lIns="0" bIns="0" rIns="0">
            <a:spAutoFit/>
          </a:bodyPr>
          <a:lstStyle/>
          <a:p>
            <a:pPr algn="l">
              <a:lnSpc>
                <a:spcPts val="4900"/>
              </a:lnSpc>
            </a:pPr>
            <a:r>
              <a:rPr lang="en-US" sz="3500" b="true">
                <a:solidFill>
                  <a:srgbClr val="F9F6FF"/>
                </a:solidFill>
                <a:latin typeface="Montserrat Bold"/>
                <a:ea typeface="Montserrat Bold"/>
                <a:cs typeface="Montserrat Bold"/>
                <a:sym typeface="Montserrat Bold"/>
              </a:rPr>
              <a:t>SCRAPING DATA</a:t>
            </a:r>
          </a:p>
        </p:txBody>
      </p:sp>
    </p:spTree>
  </p:cSld>
  <p:clrMapOvr>
    <a:masterClrMapping/>
  </p:clrMapOvr>
  <p:transition spd="fast">
    <p:fade/>
  </p:transition>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6250" t="0" r="-6250" b="0"/>
            </a:stretch>
          </a:blipFill>
        </p:spPr>
      </p:sp>
      <p:sp>
        <p:nvSpPr>
          <p:cNvPr name="Freeform 3" id="3"/>
          <p:cNvSpPr/>
          <p:nvPr/>
        </p:nvSpPr>
        <p:spPr>
          <a:xfrm flipH="false" flipV="false" rot="-5400000">
            <a:off x="13144500" y="-2928736"/>
            <a:ext cx="5143500" cy="5143500"/>
          </a:xfrm>
          <a:custGeom>
            <a:avLst/>
            <a:gdLst/>
            <a:ahLst/>
            <a:cxnLst/>
            <a:rect r="r" b="b" t="t" l="l"/>
            <a:pathLst>
              <a:path h="5143500" w="5143500">
                <a:moveTo>
                  <a:pt x="0" y="0"/>
                </a:moveTo>
                <a:lnTo>
                  <a:pt x="5143500" y="0"/>
                </a:lnTo>
                <a:lnTo>
                  <a:pt x="5143500" y="5143500"/>
                </a:lnTo>
                <a:lnTo>
                  <a:pt x="0" y="514350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4" id="4"/>
          <p:cNvGrpSpPr/>
          <p:nvPr/>
        </p:nvGrpSpPr>
        <p:grpSpPr>
          <a:xfrm rot="0">
            <a:off x="0" y="0"/>
            <a:ext cx="5149977" cy="1695450"/>
            <a:chOff x="0" y="0"/>
            <a:chExt cx="1356372" cy="446538"/>
          </a:xfrm>
        </p:grpSpPr>
        <p:sp>
          <p:nvSpPr>
            <p:cNvPr name="Freeform 5" id="5"/>
            <p:cNvSpPr/>
            <p:nvPr/>
          </p:nvSpPr>
          <p:spPr>
            <a:xfrm flipH="false" flipV="false" rot="0">
              <a:off x="0" y="0"/>
              <a:ext cx="1356372" cy="446538"/>
            </a:xfrm>
            <a:custGeom>
              <a:avLst/>
              <a:gdLst/>
              <a:ahLst/>
              <a:cxnLst/>
              <a:rect r="r" b="b" t="t" l="l"/>
              <a:pathLst>
                <a:path h="446538" w="1356372">
                  <a:moveTo>
                    <a:pt x="0" y="0"/>
                  </a:moveTo>
                  <a:lnTo>
                    <a:pt x="1356372" y="0"/>
                  </a:lnTo>
                  <a:lnTo>
                    <a:pt x="1356372" y="446538"/>
                  </a:lnTo>
                  <a:lnTo>
                    <a:pt x="0" y="446538"/>
                  </a:lnTo>
                  <a:close/>
                </a:path>
              </a:pathLst>
            </a:custGeom>
            <a:solidFill>
              <a:srgbClr val="004AAD"/>
            </a:solidFill>
          </p:spPr>
        </p:sp>
        <p:sp>
          <p:nvSpPr>
            <p:cNvPr name="TextBox 6" id="6"/>
            <p:cNvSpPr txBox="true"/>
            <p:nvPr/>
          </p:nvSpPr>
          <p:spPr>
            <a:xfrm>
              <a:off x="0" y="-28575"/>
              <a:ext cx="1356372" cy="475113"/>
            </a:xfrm>
            <a:prstGeom prst="rect">
              <a:avLst/>
            </a:prstGeom>
          </p:spPr>
          <p:txBody>
            <a:bodyPr anchor="ctr" rtlCol="false" tIns="50800" lIns="50800" bIns="50800" rIns="50800"/>
            <a:lstStyle/>
            <a:p>
              <a:pPr algn="ctr">
                <a:lnSpc>
                  <a:spcPts val="2659"/>
                </a:lnSpc>
              </a:pPr>
            </a:p>
          </p:txBody>
        </p:sp>
      </p:grpSp>
      <p:sp>
        <p:nvSpPr>
          <p:cNvPr name="Freeform 7" id="7"/>
          <p:cNvSpPr/>
          <p:nvPr/>
        </p:nvSpPr>
        <p:spPr>
          <a:xfrm flipH="false" flipV="false" rot="0">
            <a:off x="14602927" y="8862259"/>
            <a:ext cx="2656373" cy="396041"/>
          </a:xfrm>
          <a:custGeom>
            <a:avLst/>
            <a:gdLst/>
            <a:ahLst/>
            <a:cxnLst/>
            <a:rect r="r" b="b" t="t" l="l"/>
            <a:pathLst>
              <a:path h="396041" w="2656373">
                <a:moveTo>
                  <a:pt x="0" y="0"/>
                </a:moveTo>
                <a:lnTo>
                  <a:pt x="2656373" y="0"/>
                </a:lnTo>
                <a:lnTo>
                  <a:pt x="2656373" y="396041"/>
                </a:lnTo>
                <a:lnTo>
                  <a:pt x="0" y="396041"/>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8" id="8"/>
          <p:cNvSpPr/>
          <p:nvPr/>
        </p:nvSpPr>
        <p:spPr>
          <a:xfrm flipH="false" flipV="false" rot="0">
            <a:off x="-2891140" y="4456166"/>
            <a:ext cx="13518489" cy="1390933"/>
          </a:xfrm>
          <a:custGeom>
            <a:avLst/>
            <a:gdLst/>
            <a:ahLst/>
            <a:cxnLst/>
            <a:rect r="r" b="b" t="t" l="l"/>
            <a:pathLst>
              <a:path h="1390933" w="13518489">
                <a:moveTo>
                  <a:pt x="0" y="0"/>
                </a:moveTo>
                <a:lnTo>
                  <a:pt x="13518488" y="0"/>
                </a:lnTo>
                <a:lnTo>
                  <a:pt x="13518488" y="1390933"/>
                </a:lnTo>
                <a:lnTo>
                  <a:pt x="0" y="1390933"/>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9" id="9"/>
          <p:cNvSpPr/>
          <p:nvPr/>
        </p:nvSpPr>
        <p:spPr>
          <a:xfrm flipH="false" flipV="false" rot="-5400000">
            <a:off x="6477" y="7981950"/>
            <a:ext cx="5143500" cy="5143500"/>
          </a:xfrm>
          <a:custGeom>
            <a:avLst/>
            <a:gdLst/>
            <a:ahLst/>
            <a:cxnLst/>
            <a:rect r="r" b="b" t="t" l="l"/>
            <a:pathLst>
              <a:path h="5143500" w="5143500">
                <a:moveTo>
                  <a:pt x="0" y="0"/>
                </a:moveTo>
                <a:lnTo>
                  <a:pt x="5143500" y="0"/>
                </a:lnTo>
                <a:lnTo>
                  <a:pt x="5143500" y="5143500"/>
                </a:lnTo>
                <a:lnTo>
                  <a:pt x="0" y="514350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10" id="10"/>
          <p:cNvSpPr txBox="true"/>
          <p:nvPr/>
        </p:nvSpPr>
        <p:spPr>
          <a:xfrm rot="0">
            <a:off x="576447" y="506413"/>
            <a:ext cx="10775358" cy="606425"/>
          </a:xfrm>
          <a:prstGeom prst="rect">
            <a:avLst/>
          </a:prstGeom>
        </p:spPr>
        <p:txBody>
          <a:bodyPr anchor="t" rtlCol="false" tIns="0" lIns="0" bIns="0" rIns="0">
            <a:spAutoFit/>
          </a:bodyPr>
          <a:lstStyle/>
          <a:p>
            <a:pPr algn="l">
              <a:lnSpc>
                <a:spcPts val="4900"/>
              </a:lnSpc>
            </a:pPr>
            <a:r>
              <a:rPr lang="en-US" b="true" sz="3500">
                <a:solidFill>
                  <a:srgbClr val="F9F6FF"/>
                </a:solidFill>
                <a:latin typeface="Montserrat Bold"/>
                <a:ea typeface="Montserrat Bold"/>
                <a:cs typeface="Montserrat Bold"/>
                <a:sym typeface="Montserrat Bold"/>
              </a:rPr>
              <a:t>PREPROCESSING</a:t>
            </a:r>
          </a:p>
        </p:txBody>
      </p:sp>
      <p:sp>
        <p:nvSpPr>
          <p:cNvPr name="TextBox 11" id="11"/>
          <p:cNvSpPr txBox="true"/>
          <p:nvPr/>
        </p:nvSpPr>
        <p:spPr>
          <a:xfrm rot="0">
            <a:off x="318098" y="4670230"/>
            <a:ext cx="1759672" cy="893821"/>
          </a:xfrm>
          <a:prstGeom prst="rect">
            <a:avLst/>
          </a:prstGeom>
        </p:spPr>
        <p:txBody>
          <a:bodyPr anchor="t" rtlCol="false" tIns="0" lIns="0" bIns="0" rIns="0">
            <a:spAutoFit/>
          </a:bodyPr>
          <a:lstStyle/>
          <a:p>
            <a:pPr algn="ctr">
              <a:lnSpc>
                <a:spcPts val="3596"/>
              </a:lnSpc>
            </a:pPr>
            <a:r>
              <a:rPr lang="en-US" sz="2996">
                <a:solidFill>
                  <a:srgbClr val="F9F6FF"/>
                </a:solidFill>
                <a:latin typeface="Clear Sans"/>
                <a:ea typeface="Clear Sans"/>
                <a:cs typeface="Clear Sans"/>
                <a:sym typeface="Clear Sans"/>
              </a:rPr>
              <a:t>Eksplorasi Data</a:t>
            </a:r>
          </a:p>
        </p:txBody>
      </p:sp>
      <p:sp>
        <p:nvSpPr>
          <p:cNvPr name="TextBox 12" id="12"/>
          <p:cNvSpPr txBox="true"/>
          <p:nvPr/>
        </p:nvSpPr>
        <p:spPr>
          <a:xfrm rot="0">
            <a:off x="2988268" y="4670230"/>
            <a:ext cx="1759672" cy="893821"/>
          </a:xfrm>
          <a:prstGeom prst="rect">
            <a:avLst/>
          </a:prstGeom>
        </p:spPr>
        <p:txBody>
          <a:bodyPr anchor="t" rtlCol="false" tIns="0" lIns="0" bIns="0" rIns="0">
            <a:spAutoFit/>
          </a:bodyPr>
          <a:lstStyle/>
          <a:p>
            <a:pPr algn="ctr">
              <a:lnSpc>
                <a:spcPts val="3596"/>
              </a:lnSpc>
            </a:pPr>
            <a:r>
              <a:rPr lang="en-US" sz="2996">
                <a:solidFill>
                  <a:srgbClr val="F9F6FF"/>
                </a:solidFill>
                <a:latin typeface="Clear Sans"/>
                <a:ea typeface="Clear Sans"/>
                <a:cs typeface="Clear Sans"/>
                <a:sym typeface="Clear Sans"/>
              </a:rPr>
              <a:t>Case Folding</a:t>
            </a:r>
          </a:p>
        </p:txBody>
      </p:sp>
      <p:sp>
        <p:nvSpPr>
          <p:cNvPr name="TextBox 13" id="13"/>
          <p:cNvSpPr txBox="true"/>
          <p:nvPr/>
        </p:nvSpPr>
        <p:spPr>
          <a:xfrm rot="0">
            <a:off x="8193815" y="4896066"/>
            <a:ext cx="2234064" cy="442148"/>
          </a:xfrm>
          <a:prstGeom prst="rect">
            <a:avLst/>
          </a:prstGeom>
        </p:spPr>
        <p:txBody>
          <a:bodyPr anchor="t" rtlCol="false" tIns="0" lIns="0" bIns="0" rIns="0">
            <a:spAutoFit/>
          </a:bodyPr>
          <a:lstStyle/>
          <a:p>
            <a:pPr algn="ctr">
              <a:lnSpc>
                <a:spcPts val="3596"/>
              </a:lnSpc>
            </a:pPr>
            <a:r>
              <a:rPr lang="en-US" sz="2996">
                <a:solidFill>
                  <a:srgbClr val="F9F6FF"/>
                </a:solidFill>
                <a:latin typeface="Clear Sans"/>
                <a:ea typeface="Clear Sans"/>
                <a:cs typeface="Clear Sans"/>
                <a:sym typeface="Clear Sans"/>
              </a:rPr>
              <a:t>Normalisasi</a:t>
            </a:r>
          </a:p>
        </p:txBody>
      </p:sp>
      <p:sp>
        <p:nvSpPr>
          <p:cNvPr name="Freeform 14" id="14"/>
          <p:cNvSpPr/>
          <p:nvPr/>
        </p:nvSpPr>
        <p:spPr>
          <a:xfrm flipH="false" flipV="false" rot="0">
            <a:off x="10413211" y="4456166"/>
            <a:ext cx="13311177" cy="1369602"/>
          </a:xfrm>
          <a:custGeom>
            <a:avLst/>
            <a:gdLst/>
            <a:ahLst/>
            <a:cxnLst/>
            <a:rect r="r" b="b" t="t" l="l"/>
            <a:pathLst>
              <a:path h="1369602" w="13311177">
                <a:moveTo>
                  <a:pt x="0" y="0"/>
                </a:moveTo>
                <a:lnTo>
                  <a:pt x="13311178" y="0"/>
                </a:lnTo>
                <a:lnTo>
                  <a:pt x="13311178" y="1369602"/>
                </a:lnTo>
                <a:lnTo>
                  <a:pt x="0" y="1369602"/>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TextBox 15" id="15"/>
          <p:cNvSpPr txBox="true"/>
          <p:nvPr/>
        </p:nvSpPr>
        <p:spPr>
          <a:xfrm rot="0">
            <a:off x="11046448" y="4935321"/>
            <a:ext cx="1759672" cy="442148"/>
          </a:xfrm>
          <a:prstGeom prst="rect">
            <a:avLst/>
          </a:prstGeom>
        </p:spPr>
        <p:txBody>
          <a:bodyPr anchor="t" rtlCol="false" tIns="0" lIns="0" bIns="0" rIns="0">
            <a:spAutoFit/>
          </a:bodyPr>
          <a:lstStyle/>
          <a:p>
            <a:pPr algn="ctr">
              <a:lnSpc>
                <a:spcPts val="3596"/>
              </a:lnSpc>
            </a:pPr>
            <a:r>
              <a:rPr lang="en-US" sz="2996">
                <a:solidFill>
                  <a:srgbClr val="FFFFFF"/>
                </a:solidFill>
                <a:latin typeface="Clear Sans"/>
                <a:ea typeface="Clear Sans"/>
                <a:cs typeface="Clear Sans"/>
                <a:sym typeface="Clear Sans"/>
              </a:rPr>
              <a:t>Cleaning</a:t>
            </a:r>
          </a:p>
        </p:txBody>
      </p:sp>
      <p:sp>
        <p:nvSpPr>
          <p:cNvPr name="TextBox 16" id="16"/>
          <p:cNvSpPr txBox="true"/>
          <p:nvPr/>
        </p:nvSpPr>
        <p:spPr>
          <a:xfrm rot="0">
            <a:off x="5662340" y="4935321"/>
            <a:ext cx="2108716" cy="442148"/>
          </a:xfrm>
          <a:prstGeom prst="rect">
            <a:avLst/>
          </a:prstGeom>
        </p:spPr>
        <p:txBody>
          <a:bodyPr anchor="t" rtlCol="false" tIns="0" lIns="0" bIns="0" rIns="0">
            <a:spAutoFit/>
          </a:bodyPr>
          <a:lstStyle/>
          <a:p>
            <a:pPr algn="ctr">
              <a:lnSpc>
                <a:spcPts val="3596"/>
              </a:lnSpc>
            </a:pPr>
            <a:r>
              <a:rPr lang="en-US" sz="2996">
                <a:solidFill>
                  <a:srgbClr val="FFFFFF"/>
                </a:solidFill>
                <a:latin typeface="Clear Sans"/>
                <a:ea typeface="Clear Sans"/>
                <a:cs typeface="Clear Sans"/>
                <a:sym typeface="Clear Sans"/>
              </a:rPr>
              <a:t>Tokenizing</a:t>
            </a:r>
          </a:p>
        </p:txBody>
      </p:sp>
      <p:sp>
        <p:nvSpPr>
          <p:cNvPr name="TextBox 17" id="17"/>
          <p:cNvSpPr txBox="true"/>
          <p:nvPr/>
        </p:nvSpPr>
        <p:spPr>
          <a:xfrm rot="0">
            <a:off x="13460949" y="4896066"/>
            <a:ext cx="2108716" cy="442148"/>
          </a:xfrm>
          <a:prstGeom prst="rect">
            <a:avLst/>
          </a:prstGeom>
        </p:spPr>
        <p:txBody>
          <a:bodyPr anchor="t" rtlCol="false" tIns="0" lIns="0" bIns="0" rIns="0">
            <a:spAutoFit/>
          </a:bodyPr>
          <a:lstStyle/>
          <a:p>
            <a:pPr algn="ctr">
              <a:lnSpc>
                <a:spcPts val="3596"/>
              </a:lnSpc>
            </a:pPr>
            <a:r>
              <a:rPr lang="en-US" sz="2996">
                <a:solidFill>
                  <a:srgbClr val="FFFFFF"/>
                </a:solidFill>
                <a:latin typeface="Clear Sans"/>
                <a:ea typeface="Clear Sans"/>
                <a:cs typeface="Clear Sans"/>
                <a:sym typeface="Clear Sans"/>
              </a:rPr>
              <a:t>Stopword</a:t>
            </a:r>
          </a:p>
        </p:txBody>
      </p:sp>
      <p:sp>
        <p:nvSpPr>
          <p:cNvPr name="TextBox 18" id="18"/>
          <p:cNvSpPr txBox="true"/>
          <p:nvPr/>
        </p:nvSpPr>
        <p:spPr>
          <a:xfrm rot="0">
            <a:off x="16014442" y="4896066"/>
            <a:ext cx="2108716" cy="442148"/>
          </a:xfrm>
          <a:prstGeom prst="rect">
            <a:avLst/>
          </a:prstGeom>
        </p:spPr>
        <p:txBody>
          <a:bodyPr anchor="t" rtlCol="false" tIns="0" lIns="0" bIns="0" rIns="0">
            <a:spAutoFit/>
          </a:bodyPr>
          <a:lstStyle/>
          <a:p>
            <a:pPr algn="ctr">
              <a:lnSpc>
                <a:spcPts val="3596"/>
              </a:lnSpc>
            </a:pPr>
            <a:r>
              <a:rPr lang="en-US" sz="2996">
                <a:solidFill>
                  <a:srgbClr val="FFFFFF"/>
                </a:solidFill>
                <a:latin typeface="Clear Sans"/>
                <a:ea typeface="Clear Sans"/>
                <a:cs typeface="Clear Sans"/>
                <a:sym typeface="Clear Sans"/>
              </a:rPr>
              <a:t>Stemming</a:t>
            </a:r>
          </a:p>
        </p:txBody>
      </p:sp>
      <p:sp>
        <p:nvSpPr>
          <p:cNvPr name="TextBox 19" id="19"/>
          <p:cNvSpPr txBox="true"/>
          <p:nvPr/>
        </p:nvSpPr>
        <p:spPr>
          <a:xfrm rot="0">
            <a:off x="498430" y="2801741"/>
            <a:ext cx="12962519" cy="1019822"/>
          </a:xfrm>
          <a:prstGeom prst="rect">
            <a:avLst/>
          </a:prstGeom>
        </p:spPr>
        <p:txBody>
          <a:bodyPr anchor="t" rtlCol="false" tIns="0" lIns="0" bIns="0" rIns="0">
            <a:spAutoFit/>
          </a:bodyPr>
          <a:lstStyle/>
          <a:p>
            <a:pPr algn="just">
              <a:lnSpc>
                <a:spcPts val="4164"/>
              </a:lnSpc>
            </a:pPr>
            <a:r>
              <a:rPr lang="en-US" sz="2974">
                <a:solidFill>
                  <a:srgbClr val="2D1A52"/>
                </a:solidFill>
                <a:latin typeface="Clear Sans"/>
                <a:ea typeface="Clear Sans"/>
                <a:cs typeface="Clear Sans"/>
                <a:sym typeface="Clear Sans"/>
              </a:rPr>
              <a:t>Tahapan-tahapan dalam preprocessing dilakukan untuk meningkatkan kualitas data teks sebelum dianalisis. Tahapan preprocessing meliputi:</a:t>
            </a:r>
          </a:p>
        </p:txBody>
      </p:sp>
    </p:spTree>
  </p:cSld>
  <p:clrMapOvr>
    <a:masterClrMapping/>
  </p:clrMapOvr>
  <p:transition spd="fast">
    <p:fade/>
  </p:transition>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6250" t="0" r="-6250" b="0"/>
            </a:stretch>
          </a:blipFill>
        </p:spPr>
      </p:sp>
      <p:sp>
        <p:nvSpPr>
          <p:cNvPr name="Freeform 3" id="3"/>
          <p:cNvSpPr/>
          <p:nvPr/>
        </p:nvSpPr>
        <p:spPr>
          <a:xfrm flipH="false" flipV="false" rot="0">
            <a:off x="-780868" y="0"/>
            <a:ext cx="5143500" cy="5143500"/>
          </a:xfrm>
          <a:custGeom>
            <a:avLst/>
            <a:gdLst/>
            <a:ahLst/>
            <a:cxnLst/>
            <a:rect r="r" b="b" t="t" l="l"/>
            <a:pathLst>
              <a:path h="5143500" w="5143500">
                <a:moveTo>
                  <a:pt x="0" y="0"/>
                </a:moveTo>
                <a:lnTo>
                  <a:pt x="5143500" y="0"/>
                </a:lnTo>
                <a:lnTo>
                  <a:pt x="5143500" y="5143500"/>
                </a:lnTo>
                <a:lnTo>
                  <a:pt x="0" y="514350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780868" y="5143500"/>
            <a:ext cx="5143500" cy="5143500"/>
          </a:xfrm>
          <a:custGeom>
            <a:avLst/>
            <a:gdLst/>
            <a:ahLst/>
            <a:cxnLst/>
            <a:rect r="r" b="b" t="t" l="l"/>
            <a:pathLst>
              <a:path h="5143500" w="5143500">
                <a:moveTo>
                  <a:pt x="0" y="0"/>
                </a:moveTo>
                <a:lnTo>
                  <a:pt x="5143500" y="0"/>
                </a:lnTo>
                <a:lnTo>
                  <a:pt x="5143500" y="5143500"/>
                </a:lnTo>
                <a:lnTo>
                  <a:pt x="0" y="514350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5" id="5"/>
          <p:cNvGrpSpPr/>
          <p:nvPr/>
        </p:nvGrpSpPr>
        <p:grpSpPr>
          <a:xfrm rot="0">
            <a:off x="7820725" y="0"/>
            <a:ext cx="10455121" cy="1695450"/>
            <a:chOff x="0" y="0"/>
            <a:chExt cx="2753612" cy="446538"/>
          </a:xfrm>
        </p:grpSpPr>
        <p:sp>
          <p:nvSpPr>
            <p:cNvPr name="Freeform 6" id="6"/>
            <p:cNvSpPr/>
            <p:nvPr/>
          </p:nvSpPr>
          <p:spPr>
            <a:xfrm flipH="false" flipV="false" rot="0">
              <a:off x="0" y="0"/>
              <a:ext cx="2753612" cy="446538"/>
            </a:xfrm>
            <a:custGeom>
              <a:avLst/>
              <a:gdLst/>
              <a:ahLst/>
              <a:cxnLst/>
              <a:rect r="r" b="b" t="t" l="l"/>
              <a:pathLst>
                <a:path h="446538" w="2753612">
                  <a:moveTo>
                    <a:pt x="0" y="0"/>
                  </a:moveTo>
                  <a:lnTo>
                    <a:pt x="2753612" y="0"/>
                  </a:lnTo>
                  <a:lnTo>
                    <a:pt x="2753612" y="446538"/>
                  </a:lnTo>
                  <a:lnTo>
                    <a:pt x="0" y="446538"/>
                  </a:lnTo>
                  <a:close/>
                </a:path>
              </a:pathLst>
            </a:custGeom>
            <a:solidFill>
              <a:srgbClr val="004AAD"/>
            </a:solidFill>
          </p:spPr>
        </p:sp>
        <p:sp>
          <p:nvSpPr>
            <p:cNvPr name="TextBox 7" id="7"/>
            <p:cNvSpPr txBox="true"/>
            <p:nvPr/>
          </p:nvSpPr>
          <p:spPr>
            <a:xfrm>
              <a:off x="0" y="-28575"/>
              <a:ext cx="2753612" cy="475113"/>
            </a:xfrm>
            <a:prstGeom prst="rect">
              <a:avLst/>
            </a:prstGeom>
          </p:spPr>
          <p:txBody>
            <a:bodyPr anchor="ctr" rtlCol="false" tIns="50800" lIns="50800" bIns="50800" rIns="50800"/>
            <a:lstStyle/>
            <a:p>
              <a:pPr algn="ctr">
                <a:lnSpc>
                  <a:spcPts val="2659"/>
                </a:lnSpc>
              </a:pPr>
            </a:p>
          </p:txBody>
        </p:sp>
      </p:grpSp>
      <p:sp>
        <p:nvSpPr>
          <p:cNvPr name="Freeform 8" id="8"/>
          <p:cNvSpPr/>
          <p:nvPr/>
        </p:nvSpPr>
        <p:spPr>
          <a:xfrm flipH="false" flipV="false" rot="0">
            <a:off x="13386712" y="9258300"/>
            <a:ext cx="2656373" cy="396041"/>
          </a:xfrm>
          <a:custGeom>
            <a:avLst/>
            <a:gdLst/>
            <a:ahLst/>
            <a:cxnLst/>
            <a:rect r="r" b="b" t="t" l="l"/>
            <a:pathLst>
              <a:path h="396041" w="2656373">
                <a:moveTo>
                  <a:pt x="0" y="0"/>
                </a:moveTo>
                <a:lnTo>
                  <a:pt x="2656372" y="0"/>
                </a:lnTo>
                <a:lnTo>
                  <a:pt x="2656372" y="396041"/>
                </a:lnTo>
                <a:lnTo>
                  <a:pt x="0" y="396041"/>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9" id="9"/>
          <p:cNvSpPr/>
          <p:nvPr/>
        </p:nvSpPr>
        <p:spPr>
          <a:xfrm flipH="false" flipV="false" rot="0">
            <a:off x="4885441" y="4210897"/>
            <a:ext cx="3944314" cy="5443444"/>
          </a:xfrm>
          <a:custGeom>
            <a:avLst/>
            <a:gdLst/>
            <a:ahLst/>
            <a:cxnLst/>
            <a:rect r="r" b="b" t="t" l="l"/>
            <a:pathLst>
              <a:path h="5443444" w="3944314">
                <a:moveTo>
                  <a:pt x="0" y="0"/>
                </a:moveTo>
                <a:lnTo>
                  <a:pt x="3944314" y="0"/>
                </a:lnTo>
                <a:lnTo>
                  <a:pt x="3944314" y="5443444"/>
                </a:lnTo>
                <a:lnTo>
                  <a:pt x="0" y="5443444"/>
                </a:lnTo>
                <a:lnTo>
                  <a:pt x="0" y="0"/>
                </a:lnTo>
                <a:close/>
              </a:path>
            </a:pathLst>
          </a:custGeom>
          <a:blipFill>
            <a:blip r:embed="rId7"/>
            <a:stretch>
              <a:fillRect l="0" t="0" r="0" b="0"/>
            </a:stretch>
          </a:blipFill>
        </p:spPr>
      </p:sp>
      <p:sp>
        <p:nvSpPr>
          <p:cNvPr name="Freeform 10" id="10"/>
          <p:cNvSpPr/>
          <p:nvPr/>
        </p:nvSpPr>
        <p:spPr>
          <a:xfrm flipH="false" flipV="false" rot="0">
            <a:off x="10760921" y="6624961"/>
            <a:ext cx="4574728" cy="863156"/>
          </a:xfrm>
          <a:custGeom>
            <a:avLst/>
            <a:gdLst/>
            <a:ahLst/>
            <a:cxnLst/>
            <a:rect r="r" b="b" t="t" l="l"/>
            <a:pathLst>
              <a:path h="863156" w="4574728">
                <a:moveTo>
                  <a:pt x="0" y="0"/>
                </a:moveTo>
                <a:lnTo>
                  <a:pt x="4574728" y="0"/>
                </a:lnTo>
                <a:lnTo>
                  <a:pt x="4574728" y="863156"/>
                </a:lnTo>
                <a:lnTo>
                  <a:pt x="0" y="863156"/>
                </a:lnTo>
                <a:lnTo>
                  <a:pt x="0" y="0"/>
                </a:lnTo>
                <a:close/>
              </a:path>
            </a:pathLst>
          </a:custGeom>
          <a:blipFill>
            <a:blip r:embed="rId8"/>
            <a:stretch>
              <a:fillRect l="0" t="0" r="0" b="0"/>
            </a:stretch>
          </a:blipFill>
        </p:spPr>
      </p:sp>
      <p:sp>
        <p:nvSpPr>
          <p:cNvPr name="TextBox 11" id="11"/>
          <p:cNvSpPr txBox="true"/>
          <p:nvPr/>
        </p:nvSpPr>
        <p:spPr>
          <a:xfrm rot="0">
            <a:off x="4885441" y="2259040"/>
            <a:ext cx="12373859" cy="1543697"/>
          </a:xfrm>
          <a:prstGeom prst="rect">
            <a:avLst/>
          </a:prstGeom>
        </p:spPr>
        <p:txBody>
          <a:bodyPr anchor="t" rtlCol="false" tIns="0" lIns="0" bIns="0" rIns="0">
            <a:spAutoFit/>
          </a:bodyPr>
          <a:lstStyle/>
          <a:p>
            <a:pPr algn="just">
              <a:lnSpc>
                <a:spcPts val="4164"/>
              </a:lnSpc>
            </a:pPr>
            <a:r>
              <a:rPr lang="en-US" sz="2974">
                <a:solidFill>
                  <a:srgbClr val="2D1A52"/>
                </a:solidFill>
                <a:latin typeface="Clear Sans"/>
                <a:ea typeface="Clear Sans"/>
                <a:cs typeface="Clear Sans"/>
                <a:sym typeface="Clear Sans"/>
              </a:rPr>
              <a:t>Pada proses ini dilakukan pengecekan missing value dan duplikat, dengan tujuan agar data bersih dari data yang berisi nilai kosong dan data yang memiliki duplikat.</a:t>
            </a:r>
          </a:p>
        </p:txBody>
      </p:sp>
      <p:sp>
        <p:nvSpPr>
          <p:cNvPr name="TextBox 12" id="12"/>
          <p:cNvSpPr txBox="true"/>
          <p:nvPr/>
        </p:nvSpPr>
        <p:spPr>
          <a:xfrm rot="0">
            <a:off x="8642022" y="481040"/>
            <a:ext cx="10775358" cy="606425"/>
          </a:xfrm>
          <a:prstGeom prst="rect">
            <a:avLst/>
          </a:prstGeom>
        </p:spPr>
        <p:txBody>
          <a:bodyPr anchor="t" rtlCol="false" tIns="0" lIns="0" bIns="0" rIns="0">
            <a:spAutoFit/>
          </a:bodyPr>
          <a:lstStyle/>
          <a:p>
            <a:pPr algn="l">
              <a:lnSpc>
                <a:spcPts val="4900"/>
              </a:lnSpc>
            </a:pPr>
            <a:r>
              <a:rPr lang="en-US" sz="3500" b="true">
                <a:solidFill>
                  <a:srgbClr val="F9F6FF"/>
                </a:solidFill>
                <a:latin typeface="Montserrat Bold"/>
                <a:ea typeface="Montserrat Bold"/>
                <a:cs typeface="Montserrat Bold"/>
                <a:sym typeface="Montserrat Bold"/>
              </a:rPr>
              <a:t>PREPROCESSING (EKSPLORASI DATA)</a:t>
            </a:r>
          </a:p>
        </p:txBody>
      </p:sp>
      <p:sp>
        <p:nvSpPr>
          <p:cNvPr name="TextBox 13" id="13"/>
          <p:cNvSpPr txBox="true"/>
          <p:nvPr/>
        </p:nvSpPr>
        <p:spPr>
          <a:xfrm rot="0">
            <a:off x="9353630" y="4157339"/>
            <a:ext cx="8471473" cy="2067572"/>
          </a:xfrm>
          <a:prstGeom prst="rect">
            <a:avLst/>
          </a:prstGeom>
        </p:spPr>
        <p:txBody>
          <a:bodyPr anchor="t" rtlCol="false" tIns="0" lIns="0" bIns="0" rIns="0">
            <a:spAutoFit/>
          </a:bodyPr>
          <a:lstStyle/>
          <a:p>
            <a:pPr algn="just">
              <a:lnSpc>
                <a:spcPts val="4164"/>
              </a:lnSpc>
            </a:pPr>
            <a:r>
              <a:rPr lang="en-US" sz="2974">
                <a:solidFill>
                  <a:srgbClr val="2D1A52"/>
                </a:solidFill>
                <a:latin typeface="Clear Sans"/>
                <a:ea typeface="Clear Sans"/>
                <a:cs typeface="Clear Sans"/>
                <a:sym typeface="Clear Sans"/>
              </a:rPr>
              <a:t>Data tidak ada missing value, tetapi data memiliki data yang duplikat sebanyak 2357. untuk menangani data yang  duplikat tersebut  dilakukan penghapusan data.</a:t>
            </a:r>
          </a:p>
        </p:txBody>
      </p:sp>
    </p:spTree>
  </p:cSld>
  <p:clrMapOvr>
    <a:masterClrMapping/>
  </p:clrMapOvr>
  <p:transition spd="fast">
    <p:fade/>
  </p:transition>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6250" t="0" r="-6250" b="0"/>
            </a:stretch>
          </a:blipFill>
        </p:spPr>
      </p:sp>
      <p:sp>
        <p:nvSpPr>
          <p:cNvPr name="Freeform 3" id="3"/>
          <p:cNvSpPr/>
          <p:nvPr/>
        </p:nvSpPr>
        <p:spPr>
          <a:xfrm flipH="false" flipV="false" rot="-3153086">
            <a:off x="-1229843" y="7562850"/>
            <a:ext cx="5143500" cy="5143500"/>
          </a:xfrm>
          <a:custGeom>
            <a:avLst/>
            <a:gdLst/>
            <a:ahLst/>
            <a:cxnLst/>
            <a:rect r="r" b="b" t="t" l="l"/>
            <a:pathLst>
              <a:path h="5143500" w="5143500">
                <a:moveTo>
                  <a:pt x="0" y="0"/>
                </a:moveTo>
                <a:lnTo>
                  <a:pt x="5143500" y="0"/>
                </a:lnTo>
                <a:lnTo>
                  <a:pt x="5143500" y="5143500"/>
                </a:lnTo>
                <a:lnTo>
                  <a:pt x="0" y="514350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4" id="4"/>
          <p:cNvGrpSpPr/>
          <p:nvPr/>
        </p:nvGrpSpPr>
        <p:grpSpPr>
          <a:xfrm rot="0">
            <a:off x="0" y="0"/>
            <a:ext cx="13765597" cy="1695450"/>
            <a:chOff x="0" y="0"/>
            <a:chExt cx="3625507" cy="446538"/>
          </a:xfrm>
        </p:grpSpPr>
        <p:sp>
          <p:nvSpPr>
            <p:cNvPr name="Freeform 5" id="5"/>
            <p:cNvSpPr/>
            <p:nvPr/>
          </p:nvSpPr>
          <p:spPr>
            <a:xfrm flipH="false" flipV="false" rot="0">
              <a:off x="0" y="0"/>
              <a:ext cx="3625507" cy="446538"/>
            </a:xfrm>
            <a:custGeom>
              <a:avLst/>
              <a:gdLst/>
              <a:ahLst/>
              <a:cxnLst/>
              <a:rect r="r" b="b" t="t" l="l"/>
              <a:pathLst>
                <a:path h="446538" w="3625507">
                  <a:moveTo>
                    <a:pt x="0" y="0"/>
                  </a:moveTo>
                  <a:lnTo>
                    <a:pt x="3625507" y="0"/>
                  </a:lnTo>
                  <a:lnTo>
                    <a:pt x="3625507" y="446538"/>
                  </a:lnTo>
                  <a:lnTo>
                    <a:pt x="0" y="446538"/>
                  </a:lnTo>
                  <a:close/>
                </a:path>
              </a:pathLst>
            </a:custGeom>
            <a:solidFill>
              <a:srgbClr val="004AAD"/>
            </a:solidFill>
          </p:spPr>
        </p:sp>
        <p:sp>
          <p:nvSpPr>
            <p:cNvPr name="TextBox 6" id="6"/>
            <p:cNvSpPr txBox="true"/>
            <p:nvPr/>
          </p:nvSpPr>
          <p:spPr>
            <a:xfrm>
              <a:off x="0" y="-28575"/>
              <a:ext cx="3625507" cy="475113"/>
            </a:xfrm>
            <a:prstGeom prst="rect">
              <a:avLst/>
            </a:prstGeom>
          </p:spPr>
          <p:txBody>
            <a:bodyPr anchor="ctr" rtlCol="false" tIns="50800" lIns="50800" bIns="50800" rIns="50800"/>
            <a:lstStyle/>
            <a:p>
              <a:pPr algn="ctr">
                <a:lnSpc>
                  <a:spcPts val="2659"/>
                </a:lnSpc>
              </a:pPr>
            </a:p>
          </p:txBody>
        </p:sp>
      </p:grpSp>
      <p:sp>
        <p:nvSpPr>
          <p:cNvPr name="Freeform 7" id="7"/>
          <p:cNvSpPr/>
          <p:nvPr/>
        </p:nvSpPr>
        <p:spPr>
          <a:xfrm flipH="false" flipV="false" rot="-5400000">
            <a:off x="16129134" y="2825616"/>
            <a:ext cx="2656373" cy="396041"/>
          </a:xfrm>
          <a:custGeom>
            <a:avLst/>
            <a:gdLst/>
            <a:ahLst/>
            <a:cxnLst/>
            <a:rect r="r" b="b" t="t" l="l"/>
            <a:pathLst>
              <a:path h="396041" w="2656373">
                <a:moveTo>
                  <a:pt x="0" y="0"/>
                </a:moveTo>
                <a:lnTo>
                  <a:pt x="2656373" y="0"/>
                </a:lnTo>
                <a:lnTo>
                  <a:pt x="2656373" y="396041"/>
                </a:lnTo>
                <a:lnTo>
                  <a:pt x="0" y="396041"/>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8" id="8"/>
          <p:cNvSpPr/>
          <p:nvPr/>
        </p:nvSpPr>
        <p:spPr>
          <a:xfrm flipH="false" flipV="false" rot="-7447861">
            <a:off x="13783072" y="7325834"/>
            <a:ext cx="5143500" cy="5143500"/>
          </a:xfrm>
          <a:custGeom>
            <a:avLst/>
            <a:gdLst/>
            <a:ahLst/>
            <a:cxnLst/>
            <a:rect r="r" b="b" t="t" l="l"/>
            <a:pathLst>
              <a:path h="5143500" w="5143500">
                <a:moveTo>
                  <a:pt x="0" y="0"/>
                </a:moveTo>
                <a:lnTo>
                  <a:pt x="5143500" y="0"/>
                </a:lnTo>
                <a:lnTo>
                  <a:pt x="5143500" y="5143500"/>
                </a:lnTo>
                <a:lnTo>
                  <a:pt x="0" y="514350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9" id="9"/>
          <p:cNvSpPr/>
          <p:nvPr/>
        </p:nvSpPr>
        <p:spPr>
          <a:xfrm flipH="false" flipV="false" rot="0">
            <a:off x="2020319" y="5461889"/>
            <a:ext cx="6719498" cy="1067250"/>
          </a:xfrm>
          <a:custGeom>
            <a:avLst/>
            <a:gdLst/>
            <a:ahLst/>
            <a:cxnLst/>
            <a:rect r="r" b="b" t="t" l="l"/>
            <a:pathLst>
              <a:path h="1067250" w="6719498">
                <a:moveTo>
                  <a:pt x="0" y="0"/>
                </a:moveTo>
                <a:lnTo>
                  <a:pt x="6719497" y="0"/>
                </a:lnTo>
                <a:lnTo>
                  <a:pt x="6719497" y="1067250"/>
                </a:lnTo>
                <a:lnTo>
                  <a:pt x="0" y="1067250"/>
                </a:lnTo>
                <a:lnTo>
                  <a:pt x="0" y="0"/>
                </a:lnTo>
                <a:close/>
              </a:path>
            </a:pathLst>
          </a:custGeom>
          <a:blipFill>
            <a:blip r:embed="rId7"/>
            <a:stretch>
              <a:fillRect l="0" t="-14764" r="0" b="0"/>
            </a:stretch>
          </a:blipFill>
        </p:spPr>
      </p:sp>
      <p:sp>
        <p:nvSpPr>
          <p:cNvPr name="Freeform 10" id="10"/>
          <p:cNvSpPr/>
          <p:nvPr/>
        </p:nvSpPr>
        <p:spPr>
          <a:xfrm flipH="false" flipV="false" rot="0">
            <a:off x="9177652" y="5461889"/>
            <a:ext cx="7210822" cy="896260"/>
          </a:xfrm>
          <a:custGeom>
            <a:avLst/>
            <a:gdLst/>
            <a:ahLst/>
            <a:cxnLst/>
            <a:rect r="r" b="b" t="t" l="l"/>
            <a:pathLst>
              <a:path h="896260" w="7210822">
                <a:moveTo>
                  <a:pt x="0" y="0"/>
                </a:moveTo>
                <a:lnTo>
                  <a:pt x="7210822" y="0"/>
                </a:lnTo>
                <a:lnTo>
                  <a:pt x="7210822" y="896261"/>
                </a:lnTo>
                <a:lnTo>
                  <a:pt x="0" y="896261"/>
                </a:lnTo>
                <a:lnTo>
                  <a:pt x="0" y="0"/>
                </a:lnTo>
                <a:close/>
              </a:path>
            </a:pathLst>
          </a:custGeom>
          <a:blipFill>
            <a:blip r:embed="rId8"/>
            <a:stretch>
              <a:fillRect l="0" t="0" r="0" b="0"/>
            </a:stretch>
          </a:blipFill>
        </p:spPr>
      </p:sp>
      <p:sp>
        <p:nvSpPr>
          <p:cNvPr name="TextBox 11" id="11"/>
          <p:cNvSpPr txBox="true"/>
          <p:nvPr/>
        </p:nvSpPr>
        <p:spPr>
          <a:xfrm rot="0">
            <a:off x="2020319" y="2501452"/>
            <a:ext cx="6484380" cy="2591447"/>
          </a:xfrm>
          <a:prstGeom prst="rect">
            <a:avLst/>
          </a:prstGeom>
        </p:spPr>
        <p:txBody>
          <a:bodyPr anchor="t" rtlCol="false" tIns="0" lIns="0" bIns="0" rIns="0">
            <a:spAutoFit/>
          </a:bodyPr>
          <a:lstStyle/>
          <a:p>
            <a:pPr algn="just">
              <a:lnSpc>
                <a:spcPts val="4164"/>
              </a:lnSpc>
            </a:pPr>
            <a:r>
              <a:rPr lang="en-US" sz="2974">
                <a:solidFill>
                  <a:srgbClr val="2D1A52"/>
                </a:solidFill>
                <a:latin typeface="Clear Sans"/>
                <a:ea typeface="Clear Sans"/>
                <a:cs typeface="Clear Sans"/>
                <a:sym typeface="Clear Sans"/>
              </a:rPr>
              <a:t>Case folding merupakan salah satu bentuk text preprocessing yang bertujuan untuk mengubah semua huruf dalam dokumen menjadi huruf kecil. </a:t>
            </a:r>
          </a:p>
        </p:txBody>
      </p:sp>
      <p:sp>
        <p:nvSpPr>
          <p:cNvPr name="TextBox 12" id="12"/>
          <p:cNvSpPr txBox="true"/>
          <p:nvPr/>
        </p:nvSpPr>
        <p:spPr>
          <a:xfrm rot="0">
            <a:off x="726694" y="506413"/>
            <a:ext cx="12733731" cy="606425"/>
          </a:xfrm>
          <a:prstGeom prst="rect">
            <a:avLst/>
          </a:prstGeom>
        </p:spPr>
        <p:txBody>
          <a:bodyPr anchor="t" rtlCol="false" tIns="0" lIns="0" bIns="0" rIns="0">
            <a:spAutoFit/>
          </a:bodyPr>
          <a:lstStyle/>
          <a:p>
            <a:pPr algn="l">
              <a:lnSpc>
                <a:spcPts val="4900"/>
              </a:lnSpc>
            </a:pPr>
            <a:r>
              <a:rPr lang="en-US" sz="3500" b="true">
                <a:solidFill>
                  <a:srgbClr val="F9F6FF"/>
                </a:solidFill>
                <a:latin typeface="Montserrat Bold"/>
                <a:ea typeface="Montserrat Bold"/>
                <a:cs typeface="Montserrat Bold"/>
                <a:sym typeface="Montserrat Bold"/>
              </a:rPr>
              <a:t>PREPROCESSING (CASE FOLDING AND TOKENIZING)</a:t>
            </a:r>
          </a:p>
        </p:txBody>
      </p:sp>
      <p:sp>
        <p:nvSpPr>
          <p:cNvPr name="TextBox 13" id="13"/>
          <p:cNvSpPr txBox="true"/>
          <p:nvPr/>
        </p:nvSpPr>
        <p:spPr>
          <a:xfrm rot="0">
            <a:off x="9856014" y="2552053"/>
            <a:ext cx="5854099" cy="1543697"/>
          </a:xfrm>
          <a:prstGeom prst="rect">
            <a:avLst/>
          </a:prstGeom>
        </p:spPr>
        <p:txBody>
          <a:bodyPr anchor="t" rtlCol="false" tIns="0" lIns="0" bIns="0" rIns="0">
            <a:spAutoFit/>
          </a:bodyPr>
          <a:lstStyle/>
          <a:p>
            <a:pPr algn="just">
              <a:lnSpc>
                <a:spcPts val="4164"/>
              </a:lnSpc>
            </a:pPr>
            <a:r>
              <a:rPr lang="en-US" sz="2974">
                <a:solidFill>
                  <a:srgbClr val="2D1A52"/>
                </a:solidFill>
                <a:latin typeface="Clear Sans"/>
                <a:ea typeface="Clear Sans"/>
                <a:cs typeface="Clear Sans"/>
                <a:sym typeface="Clear Sans"/>
              </a:rPr>
              <a:t>Tokenizing/tokenisasi merupakan proses memecah kalimat menjadi perkata. </a:t>
            </a:r>
          </a:p>
        </p:txBody>
      </p:sp>
    </p:spTree>
  </p:cSld>
  <p:clrMapOvr>
    <a:masterClrMapping/>
  </p:clrMapOvr>
  <p:transition spd="fast">
    <p:fade/>
  </p:transition>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6250" t="0" r="-6250" b="0"/>
            </a:stretch>
          </a:blipFill>
        </p:spPr>
      </p:sp>
      <p:sp>
        <p:nvSpPr>
          <p:cNvPr name="Freeform 3" id="3"/>
          <p:cNvSpPr/>
          <p:nvPr/>
        </p:nvSpPr>
        <p:spPr>
          <a:xfrm flipH="false" flipV="false" rot="-5400000">
            <a:off x="10128836" y="7417014"/>
            <a:ext cx="5143500" cy="5143500"/>
          </a:xfrm>
          <a:custGeom>
            <a:avLst/>
            <a:gdLst/>
            <a:ahLst/>
            <a:cxnLst/>
            <a:rect r="r" b="b" t="t" l="l"/>
            <a:pathLst>
              <a:path h="5143500" w="5143500">
                <a:moveTo>
                  <a:pt x="0" y="0"/>
                </a:moveTo>
                <a:lnTo>
                  <a:pt x="5143500" y="0"/>
                </a:lnTo>
                <a:lnTo>
                  <a:pt x="5143500" y="5143500"/>
                </a:lnTo>
                <a:lnTo>
                  <a:pt x="0" y="514350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4" id="4"/>
          <p:cNvGrpSpPr/>
          <p:nvPr/>
        </p:nvGrpSpPr>
        <p:grpSpPr>
          <a:xfrm rot="0">
            <a:off x="0" y="0"/>
            <a:ext cx="9353630" cy="1695450"/>
            <a:chOff x="0" y="0"/>
            <a:chExt cx="2463507" cy="446538"/>
          </a:xfrm>
        </p:grpSpPr>
        <p:sp>
          <p:nvSpPr>
            <p:cNvPr name="Freeform 5" id="5"/>
            <p:cNvSpPr/>
            <p:nvPr/>
          </p:nvSpPr>
          <p:spPr>
            <a:xfrm flipH="false" flipV="false" rot="0">
              <a:off x="0" y="0"/>
              <a:ext cx="2463507" cy="446538"/>
            </a:xfrm>
            <a:custGeom>
              <a:avLst/>
              <a:gdLst/>
              <a:ahLst/>
              <a:cxnLst/>
              <a:rect r="r" b="b" t="t" l="l"/>
              <a:pathLst>
                <a:path h="446538" w="2463507">
                  <a:moveTo>
                    <a:pt x="0" y="0"/>
                  </a:moveTo>
                  <a:lnTo>
                    <a:pt x="2463507" y="0"/>
                  </a:lnTo>
                  <a:lnTo>
                    <a:pt x="2463507" y="446538"/>
                  </a:lnTo>
                  <a:lnTo>
                    <a:pt x="0" y="446538"/>
                  </a:lnTo>
                  <a:close/>
                </a:path>
              </a:pathLst>
            </a:custGeom>
            <a:solidFill>
              <a:srgbClr val="004AAD"/>
            </a:solidFill>
          </p:spPr>
        </p:sp>
        <p:sp>
          <p:nvSpPr>
            <p:cNvPr name="TextBox 6" id="6"/>
            <p:cNvSpPr txBox="true"/>
            <p:nvPr/>
          </p:nvSpPr>
          <p:spPr>
            <a:xfrm>
              <a:off x="0" y="-28575"/>
              <a:ext cx="2463507" cy="475113"/>
            </a:xfrm>
            <a:prstGeom prst="rect">
              <a:avLst/>
            </a:prstGeom>
          </p:spPr>
          <p:txBody>
            <a:bodyPr anchor="ctr" rtlCol="false" tIns="50800" lIns="50800" bIns="50800" rIns="50800"/>
            <a:lstStyle/>
            <a:p>
              <a:pPr algn="ctr">
                <a:lnSpc>
                  <a:spcPts val="2659"/>
                </a:lnSpc>
              </a:pPr>
            </a:p>
          </p:txBody>
        </p:sp>
      </p:grpSp>
      <p:sp>
        <p:nvSpPr>
          <p:cNvPr name="Freeform 7" id="7"/>
          <p:cNvSpPr/>
          <p:nvPr/>
        </p:nvSpPr>
        <p:spPr>
          <a:xfrm flipH="false" flipV="false" rot="-10800000">
            <a:off x="1775494" y="9258300"/>
            <a:ext cx="2656373" cy="396041"/>
          </a:xfrm>
          <a:custGeom>
            <a:avLst/>
            <a:gdLst/>
            <a:ahLst/>
            <a:cxnLst/>
            <a:rect r="r" b="b" t="t" l="l"/>
            <a:pathLst>
              <a:path h="396041" w="2656373">
                <a:moveTo>
                  <a:pt x="0" y="0"/>
                </a:moveTo>
                <a:lnTo>
                  <a:pt x="2656373" y="0"/>
                </a:lnTo>
                <a:lnTo>
                  <a:pt x="2656373" y="396041"/>
                </a:lnTo>
                <a:lnTo>
                  <a:pt x="0" y="396041"/>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8" id="8"/>
          <p:cNvSpPr/>
          <p:nvPr/>
        </p:nvSpPr>
        <p:spPr>
          <a:xfrm flipH="false" flipV="false" rot="-5400000">
            <a:off x="15281611" y="7417014"/>
            <a:ext cx="5143500" cy="5143500"/>
          </a:xfrm>
          <a:custGeom>
            <a:avLst/>
            <a:gdLst/>
            <a:ahLst/>
            <a:cxnLst/>
            <a:rect r="r" b="b" t="t" l="l"/>
            <a:pathLst>
              <a:path h="5143500" w="5143500">
                <a:moveTo>
                  <a:pt x="0" y="0"/>
                </a:moveTo>
                <a:lnTo>
                  <a:pt x="5143500" y="0"/>
                </a:lnTo>
                <a:lnTo>
                  <a:pt x="5143500" y="5143500"/>
                </a:lnTo>
                <a:lnTo>
                  <a:pt x="0" y="514350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9" id="9"/>
          <p:cNvSpPr/>
          <p:nvPr/>
        </p:nvSpPr>
        <p:spPr>
          <a:xfrm flipH="false" flipV="false" rot="0">
            <a:off x="9638476" y="3239090"/>
            <a:ext cx="7818844" cy="1742572"/>
          </a:xfrm>
          <a:custGeom>
            <a:avLst/>
            <a:gdLst/>
            <a:ahLst/>
            <a:cxnLst/>
            <a:rect r="r" b="b" t="t" l="l"/>
            <a:pathLst>
              <a:path h="1742572" w="7818844">
                <a:moveTo>
                  <a:pt x="0" y="0"/>
                </a:moveTo>
                <a:lnTo>
                  <a:pt x="7818844" y="0"/>
                </a:lnTo>
                <a:lnTo>
                  <a:pt x="7818844" y="1742572"/>
                </a:lnTo>
                <a:lnTo>
                  <a:pt x="0" y="1742572"/>
                </a:lnTo>
                <a:lnTo>
                  <a:pt x="0" y="0"/>
                </a:lnTo>
                <a:close/>
              </a:path>
            </a:pathLst>
          </a:custGeom>
          <a:blipFill>
            <a:blip r:embed="rId7"/>
            <a:stretch>
              <a:fillRect l="0" t="0" r="0" b="0"/>
            </a:stretch>
          </a:blipFill>
        </p:spPr>
      </p:sp>
      <p:sp>
        <p:nvSpPr>
          <p:cNvPr name="Freeform 10" id="10"/>
          <p:cNvSpPr/>
          <p:nvPr/>
        </p:nvSpPr>
        <p:spPr>
          <a:xfrm flipH="false" flipV="false" rot="0">
            <a:off x="726694" y="3239090"/>
            <a:ext cx="9004059" cy="5527379"/>
          </a:xfrm>
          <a:custGeom>
            <a:avLst/>
            <a:gdLst/>
            <a:ahLst/>
            <a:cxnLst/>
            <a:rect r="r" b="b" t="t" l="l"/>
            <a:pathLst>
              <a:path h="5527379" w="9004059">
                <a:moveTo>
                  <a:pt x="0" y="0"/>
                </a:moveTo>
                <a:lnTo>
                  <a:pt x="9004060" y="0"/>
                </a:lnTo>
                <a:lnTo>
                  <a:pt x="9004060" y="5527379"/>
                </a:lnTo>
                <a:lnTo>
                  <a:pt x="0" y="5527379"/>
                </a:lnTo>
                <a:lnTo>
                  <a:pt x="0" y="0"/>
                </a:lnTo>
                <a:close/>
              </a:path>
            </a:pathLst>
          </a:custGeom>
          <a:blipFill>
            <a:blip r:embed="rId8"/>
            <a:stretch>
              <a:fillRect l="0" t="0" r="0" b="0"/>
            </a:stretch>
          </a:blipFill>
        </p:spPr>
      </p:sp>
      <p:sp>
        <p:nvSpPr>
          <p:cNvPr name="TextBox 11" id="11"/>
          <p:cNvSpPr txBox="true"/>
          <p:nvPr/>
        </p:nvSpPr>
        <p:spPr>
          <a:xfrm rot="0">
            <a:off x="358653" y="1888156"/>
            <a:ext cx="16534120" cy="1019822"/>
          </a:xfrm>
          <a:prstGeom prst="rect">
            <a:avLst/>
          </a:prstGeom>
        </p:spPr>
        <p:txBody>
          <a:bodyPr anchor="t" rtlCol="false" tIns="0" lIns="0" bIns="0" rIns="0">
            <a:spAutoFit/>
          </a:bodyPr>
          <a:lstStyle/>
          <a:p>
            <a:pPr algn="just">
              <a:lnSpc>
                <a:spcPts val="4164"/>
              </a:lnSpc>
            </a:pPr>
            <a:r>
              <a:rPr lang="en-US" sz="2974">
                <a:solidFill>
                  <a:srgbClr val="2D1A52"/>
                </a:solidFill>
                <a:latin typeface="Clear Sans"/>
                <a:ea typeface="Clear Sans"/>
                <a:cs typeface="Clear Sans"/>
                <a:sym typeface="Clear Sans"/>
              </a:rPr>
              <a:t>Pada saat cleaning dilakukan hapus emoji, hapus non-ASCII, hapus angka, hapus tanda baca/punctuation, hapus spasi berlebihan, dan hapus kata kurang dari 3 huruf.</a:t>
            </a:r>
          </a:p>
        </p:txBody>
      </p:sp>
      <p:sp>
        <p:nvSpPr>
          <p:cNvPr name="TextBox 12" id="12"/>
          <p:cNvSpPr txBox="true"/>
          <p:nvPr/>
        </p:nvSpPr>
        <p:spPr>
          <a:xfrm rot="0">
            <a:off x="726694" y="506413"/>
            <a:ext cx="10775358" cy="606425"/>
          </a:xfrm>
          <a:prstGeom prst="rect">
            <a:avLst/>
          </a:prstGeom>
        </p:spPr>
        <p:txBody>
          <a:bodyPr anchor="t" rtlCol="false" tIns="0" lIns="0" bIns="0" rIns="0">
            <a:spAutoFit/>
          </a:bodyPr>
          <a:lstStyle/>
          <a:p>
            <a:pPr algn="l">
              <a:lnSpc>
                <a:spcPts val="4900"/>
              </a:lnSpc>
            </a:pPr>
            <a:r>
              <a:rPr lang="en-US" sz="3500" b="true">
                <a:solidFill>
                  <a:srgbClr val="F9F6FF"/>
                </a:solidFill>
                <a:latin typeface="Montserrat Bold"/>
                <a:ea typeface="Montserrat Bold"/>
                <a:cs typeface="Montserrat Bold"/>
                <a:sym typeface="Montserrat Bold"/>
              </a:rPr>
              <a:t>PREPROCESSING (CLEANING)</a:t>
            </a:r>
          </a:p>
        </p:txBody>
      </p:sp>
    </p:spTree>
  </p:cSld>
  <p:clrMapOvr>
    <a:masterClrMapping/>
  </p:clrMapOvr>
  <p:transition spd="fast">
    <p:fade/>
  </p:transition>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6250" t="0" r="-6250" b="0"/>
            </a:stretch>
          </a:blipFill>
        </p:spPr>
      </p:sp>
      <p:sp>
        <p:nvSpPr>
          <p:cNvPr name="Freeform 3" id="3"/>
          <p:cNvSpPr/>
          <p:nvPr/>
        </p:nvSpPr>
        <p:spPr>
          <a:xfrm flipH="false" flipV="false" rot="0">
            <a:off x="15716250" y="0"/>
            <a:ext cx="5143500" cy="5143500"/>
          </a:xfrm>
          <a:custGeom>
            <a:avLst/>
            <a:gdLst/>
            <a:ahLst/>
            <a:cxnLst/>
            <a:rect r="r" b="b" t="t" l="l"/>
            <a:pathLst>
              <a:path h="5143500" w="5143500">
                <a:moveTo>
                  <a:pt x="0" y="0"/>
                </a:moveTo>
                <a:lnTo>
                  <a:pt x="5143500" y="0"/>
                </a:lnTo>
                <a:lnTo>
                  <a:pt x="5143500" y="5143500"/>
                </a:lnTo>
                <a:lnTo>
                  <a:pt x="0" y="514350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15716250" y="5143500"/>
            <a:ext cx="5143500" cy="5143500"/>
          </a:xfrm>
          <a:custGeom>
            <a:avLst/>
            <a:gdLst/>
            <a:ahLst/>
            <a:cxnLst/>
            <a:rect r="r" b="b" t="t" l="l"/>
            <a:pathLst>
              <a:path h="5143500" w="5143500">
                <a:moveTo>
                  <a:pt x="0" y="0"/>
                </a:moveTo>
                <a:lnTo>
                  <a:pt x="5143500" y="0"/>
                </a:lnTo>
                <a:lnTo>
                  <a:pt x="5143500" y="5143500"/>
                </a:lnTo>
                <a:lnTo>
                  <a:pt x="0" y="514350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5" id="5"/>
          <p:cNvGrpSpPr/>
          <p:nvPr/>
        </p:nvGrpSpPr>
        <p:grpSpPr>
          <a:xfrm rot="0">
            <a:off x="0" y="0"/>
            <a:ext cx="10277224" cy="1695450"/>
            <a:chOff x="0" y="0"/>
            <a:chExt cx="2706759" cy="446538"/>
          </a:xfrm>
        </p:grpSpPr>
        <p:sp>
          <p:nvSpPr>
            <p:cNvPr name="Freeform 6" id="6"/>
            <p:cNvSpPr/>
            <p:nvPr/>
          </p:nvSpPr>
          <p:spPr>
            <a:xfrm flipH="false" flipV="false" rot="0">
              <a:off x="0" y="0"/>
              <a:ext cx="2706759" cy="446538"/>
            </a:xfrm>
            <a:custGeom>
              <a:avLst/>
              <a:gdLst/>
              <a:ahLst/>
              <a:cxnLst/>
              <a:rect r="r" b="b" t="t" l="l"/>
              <a:pathLst>
                <a:path h="446538" w="2706759">
                  <a:moveTo>
                    <a:pt x="0" y="0"/>
                  </a:moveTo>
                  <a:lnTo>
                    <a:pt x="2706759" y="0"/>
                  </a:lnTo>
                  <a:lnTo>
                    <a:pt x="2706759" y="446538"/>
                  </a:lnTo>
                  <a:lnTo>
                    <a:pt x="0" y="446538"/>
                  </a:lnTo>
                  <a:close/>
                </a:path>
              </a:pathLst>
            </a:custGeom>
            <a:solidFill>
              <a:srgbClr val="004AAD"/>
            </a:solidFill>
          </p:spPr>
        </p:sp>
        <p:sp>
          <p:nvSpPr>
            <p:cNvPr name="TextBox 7" id="7"/>
            <p:cNvSpPr txBox="true"/>
            <p:nvPr/>
          </p:nvSpPr>
          <p:spPr>
            <a:xfrm>
              <a:off x="0" y="-28575"/>
              <a:ext cx="2706759" cy="475113"/>
            </a:xfrm>
            <a:prstGeom prst="rect">
              <a:avLst/>
            </a:prstGeom>
          </p:spPr>
          <p:txBody>
            <a:bodyPr anchor="ctr" rtlCol="false" tIns="50800" lIns="50800" bIns="50800" rIns="50800"/>
            <a:lstStyle/>
            <a:p>
              <a:pPr algn="ctr">
                <a:lnSpc>
                  <a:spcPts val="2659"/>
                </a:lnSpc>
              </a:pPr>
            </a:p>
          </p:txBody>
        </p:sp>
      </p:grpSp>
      <p:sp>
        <p:nvSpPr>
          <p:cNvPr name="Freeform 8" id="8"/>
          <p:cNvSpPr/>
          <p:nvPr/>
        </p:nvSpPr>
        <p:spPr>
          <a:xfrm flipH="false" flipV="false" rot="0">
            <a:off x="691637" y="3190719"/>
            <a:ext cx="8954335" cy="6067581"/>
          </a:xfrm>
          <a:custGeom>
            <a:avLst/>
            <a:gdLst/>
            <a:ahLst/>
            <a:cxnLst/>
            <a:rect r="r" b="b" t="t" l="l"/>
            <a:pathLst>
              <a:path h="6067581" w="8954335">
                <a:moveTo>
                  <a:pt x="0" y="0"/>
                </a:moveTo>
                <a:lnTo>
                  <a:pt x="8954335" y="0"/>
                </a:lnTo>
                <a:lnTo>
                  <a:pt x="8954335" y="6067581"/>
                </a:lnTo>
                <a:lnTo>
                  <a:pt x="0" y="6067581"/>
                </a:lnTo>
                <a:lnTo>
                  <a:pt x="0" y="0"/>
                </a:lnTo>
                <a:close/>
              </a:path>
            </a:pathLst>
          </a:custGeom>
          <a:blipFill>
            <a:blip r:embed="rId5"/>
            <a:stretch>
              <a:fillRect l="0" t="0" r="0" b="-34104"/>
            </a:stretch>
          </a:blipFill>
        </p:spPr>
      </p:sp>
      <p:sp>
        <p:nvSpPr>
          <p:cNvPr name="Freeform 9" id="9"/>
          <p:cNvSpPr/>
          <p:nvPr/>
        </p:nvSpPr>
        <p:spPr>
          <a:xfrm flipH="false" flipV="false" rot="0">
            <a:off x="6738196" y="9115982"/>
            <a:ext cx="3610947" cy="538359"/>
          </a:xfrm>
          <a:custGeom>
            <a:avLst/>
            <a:gdLst/>
            <a:ahLst/>
            <a:cxnLst/>
            <a:rect r="r" b="b" t="t" l="l"/>
            <a:pathLst>
              <a:path h="538359" w="3610947">
                <a:moveTo>
                  <a:pt x="0" y="0"/>
                </a:moveTo>
                <a:lnTo>
                  <a:pt x="3610947" y="0"/>
                </a:lnTo>
                <a:lnTo>
                  <a:pt x="3610947" y="538359"/>
                </a:lnTo>
                <a:lnTo>
                  <a:pt x="0" y="53835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0" id="10"/>
          <p:cNvSpPr/>
          <p:nvPr/>
        </p:nvSpPr>
        <p:spPr>
          <a:xfrm flipH="false" flipV="false" rot="0">
            <a:off x="7292896" y="5393780"/>
            <a:ext cx="7550605" cy="1489870"/>
          </a:xfrm>
          <a:custGeom>
            <a:avLst/>
            <a:gdLst/>
            <a:ahLst/>
            <a:cxnLst/>
            <a:rect r="r" b="b" t="t" l="l"/>
            <a:pathLst>
              <a:path h="1489870" w="7550605">
                <a:moveTo>
                  <a:pt x="0" y="0"/>
                </a:moveTo>
                <a:lnTo>
                  <a:pt x="7550605" y="0"/>
                </a:lnTo>
                <a:lnTo>
                  <a:pt x="7550605" y="1489870"/>
                </a:lnTo>
                <a:lnTo>
                  <a:pt x="0" y="1489870"/>
                </a:lnTo>
                <a:lnTo>
                  <a:pt x="0" y="0"/>
                </a:lnTo>
                <a:close/>
              </a:path>
            </a:pathLst>
          </a:custGeom>
          <a:blipFill>
            <a:blip r:embed="rId8"/>
            <a:stretch>
              <a:fillRect l="0" t="0" r="0" b="0"/>
            </a:stretch>
          </a:blipFill>
        </p:spPr>
      </p:sp>
      <p:sp>
        <p:nvSpPr>
          <p:cNvPr name="Freeform 11" id="11"/>
          <p:cNvSpPr/>
          <p:nvPr/>
        </p:nvSpPr>
        <p:spPr>
          <a:xfrm flipH="false" flipV="false" rot="0">
            <a:off x="7292896" y="3190719"/>
            <a:ext cx="7221894" cy="1635987"/>
          </a:xfrm>
          <a:custGeom>
            <a:avLst/>
            <a:gdLst/>
            <a:ahLst/>
            <a:cxnLst/>
            <a:rect r="r" b="b" t="t" l="l"/>
            <a:pathLst>
              <a:path h="1635987" w="7221894">
                <a:moveTo>
                  <a:pt x="0" y="0"/>
                </a:moveTo>
                <a:lnTo>
                  <a:pt x="7221894" y="0"/>
                </a:lnTo>
                <a:lnTo>
                  <a:pt x="7221894" y="1635986"/>
                </a:lnTo>
                <a:lnTo>
                  <a:pt x="0" y="1635986"/>
                </a:lnTo>
                <a:lnTo>
                  <a:pt x="0" y="0"/>
                </a:lnTo>
                <a:close/>
              </a:path>
            </a:pathLst>
          </a:custGeom>
          <a:blipFill>
            <a:blip r:embed="rId5"/>
            <a:stretch>
              <a:fillRect l="0" t="-301139" r="0" b="0"/>
            </a:stretch>
          </a:blipFill>
        </p:spPr>
      </p:sp>
      <p:sp>
        <p:nvSpPr>
          <p:cNvPr name="TextBox 12" id="12"/>
          <p:cNvSpPr txBox="true"/>
          <p:nvPr/>
        </p:nvSpPr>
        <p:spPr>
          <a:xfrm rot="0">
            <a:off x="726694" y="506413"/>
            <a:ext cx="10775358" cy="606425"/>
          </a:xfrm>
          <a:prstGeom prst="rect">
            <a:avLst/>
          </a:prstGeom>
        </p:spPr>
        <p:txBody>
          <a:bodyPr anchor="t" rtlCol="false" tIns="0" lIns="0" bIns="0" rIns="0">
            <a:spAutoFit/>
          </a:bodyPr>
          <a:lstStyle/>
          <a:p>
            <a:pPr algn="l">
              <a:lnSpc>
                <a:spcPts val="4900"/>
              </a:lnSpc>
            </a:pPr>
            <a:r>
              <a:rPr lang="en-US" sz="3500" b="true">
                <a:solidFill>
                  <a:srgbClr val="F9F6FF"/>
                </a:solidFill>
                <a:latin typeface="Montserrat Bold"/>
                <a:ea typeface="Montserrat Bold"/>
                <a:cs typeface="Montserrat Bold"/>
                <a:sym typeface="Montserrat Bold"/>
              </a:rPr>
              <a:t>PREPROCESSING (NORMALISASI)</a:t>
            </a:r>
          </a:p>
        </p:txBody>
      </p:sp>
      <p:sp>
        <p:nvSpPr>
          <p:cNvPr name="TextBox 13" id="13"/>
          <p:cNvSpPr txBox="true"/>
          <p:nvPr/>
        </p:nvSpPr>
        <p:spPr>
          <a:xfrm rot="0">
            <a:off x="252555" y="2038026"/>
            <a:ext cx="15799208" cy="495947"/>
          </a:xfrm>
          <a:prstGeom prst="rect">
            <a:avLst/>
          </a:prstGeom>
        </p:spPr>
        <p:txBody>
          <a:bodyPr anchor="t" rtlCol="false" tIns="0" lIns="0" bIns="0" rIns="0">
            <a:spAutoFit/>
          </a:bodyPr>
          <a:lstStyle/>
          <a:p>
            <a:pPr algn="just">
              <a:lnSpc>
                <a:spcPts val="4164"/>
              </a:lnSpc>
            </a:pPr>
            <a:r>
              <a:rPr lang="en-US" sz="2974">
                <a:solidFill>
                  <a:srgbClr val="2D1A52"/>
                </a:solidFill>
                <a:latin typeface="Clear Sans"/>
                <a:ea typeface="Clear Sans"/>
                <a:cs typeface="Clear Sans"/>
                <a:sym typeface="Clear Sans"/>
              </a:rPr>
              <a:t>Pada proses ini dilakukan normalisasi huruf berulang serta normalisasi kata gaul dan typo</a:t>
            </a:r>
          </a:p>
        </p:txBody>
      </p:sp>
    </p:spTree>
  </p:cSld>
  <p:clrMapOvr>
    <a:masterClrMapping/>
  </p:clrMapOvr>
  <p:transition spd="fast">
    <p:fade/>
  </p:transition>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6250" t="0" r="-6250" b="0"/>
            </a:stretch>
          </a:blipFill>
        </p:spPr>
      </p:sp>
      <p:sp>
        <p:nvSpPr>
          <p:cNvPr name="Freeform 3" id="3"/>
          <p:cNvSpPr/>
          <p:nvPr/>
        </p:nvSpPr>
        <p:spPr>
          <a:xfrm flipH="false" flipV="false" rot="-10800000">
            <a:off x="-3157292" y="0"/>
            <a:ext cx="5143500" cy="5143500"/>
          </a:xfrm>
          <a:custGeom>
            <a:avLst/>
            <a:gdLst/>
            <a:ahLst/>
            <a:cxnLst/>
            <a:rect r="r" b="b" t="t" l="l"/>
            <a:pathLst>
              <a:path h="5143500" w="5143500">
                <a:moveTo>
                  <a:pt x="0" y="0"/>
                </a:moveTo>
                <a:lnTo>
                  <a:pt x="5143500" y="0"/>
                </a:lnTo>
                <a:lnTo>
                  <a:pt x="5143500" y="5143500"/>
                </a:lnTo>
                <a:lnTo>
                  <a:pt x="0" y="514350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4" id="4"/>
          <p:cNvGrpSpPr/>
          <p:nvPr/>
        </p:nvGrpSpPr>
        <p:grpSpPr>
          <a:xfrm rot="0">
            <a:off x="5587414" y="0"/>
            <a:ext cx="12700586" cy="1695450"/>
            <a:chOff x="0" y="0"/>
            <a:chExt cx="3345010" cy="446538"/>
          </a:xfrm>
        </p:grpSpPr>
        <p:sp>
          <p:nvSpPr>
            <p:cNvPr name="Freeform 5" id="5"/>
            <p:cNvSpPr/>
            <p:nvPr/>
          </p:nvSpPr>
          <p:spPr>
            <a:xfrm flipH="false" flipV="false" rot="0">
              <a:off x="0" y="0"/>
              <a:ext cx="3345011" cy="446538"/>
            </a:xfrm>
            <a:custGeom>
              <a:avLst/>
              <a:gdLst/>
              <a:ahLst/>
              <a:cxnLst/>
              <a:rect r="r" b="b" t="t" l="l"/>
              <a:pathLst>
                <a:path h="446538" w="3345011">
                  <a:moveTo>
                    <a:pt x="0" y="0"/>
                  </a:moveTo>
                  <a:lnTo>
                    <a:pt x="3345011" y="0"/>
                  </a:lnTo>
                  <a:lnTo>
                    <a:pt x="3345011" y="446538"/>
                  </a:lnTo>
                  <a:lnTo>
                    <a:pt x="0" y="446538"/>
                  </a:lnTo>
                  <a:close/>
                </a:path>
              </a:pathLst>
            </a:custGeom>
            <a:solidFill>
              <a:srgbClr val="004AAD"/>
            </a:solidFill>
          </p:spPr>
        </p:sp>
        <p:sp>
          <p:nvSpPr>
            <p:cNvPr name="TextBox 6" id="6"/>
            <p:cNvSpPr txBox="true"/>
            <p:nvPr/>
          </p:nvSpPr>
          <p:spPr>
            <a:xfrm>
              <a:off x="0" y="-28575"/>
              <a:ext cx="3345010" cy="475113"/>
            </a:xfrm>
            <a:prstGeom prst="rect">
              <a:avLst/>
            </a:prstGeom>
          </p:spPr>
          <p:txBody>
            <a:bodyPr anchor="ctr" rtlCol="false" tIns="50800" lIns="50800" bIns="50800" rIns="50800"/>
            <a:lstStyle/>
            <a:p>
              <a:pPr algn="ctr">
                <a:lnSpc>
                  <a:spcPts val="2659"/>
                </a:lnSpc>
              </a:pPr>
            </a:p>
          </p:txBody>
        </p:sp>
      </p:grpSp>
      <p:sp>
        <p:nvSpPr>
          <p:cNvPr name="Freeform 7" id="7"/>
          <p:cNvSpPr/>
          <p:nvPr/>
        </p:nvSpPr>
        <p:spPr>
          <a:xfrm flipH="false" flipV="false" rot="-10800000">
            <a:off x="12779702" y="9258300"/>
            <a:ext cx="2905233" cy="433144"/>
          </a:xfrm>
          <a:custGeom>
            <a:avLst/>
            <a:gdLst/>
            <a:ahLst/>
            <a:cxnLst/>
            <a:rect r="r" b="b" t="t" l="l"/>
            <a:pathLst>
              <a:path h="433144" w="2905233">
                <a:moveTo>
                  <a:pt x="0" y="0"/>
                </a:moveTo>
                <a:lnTo>
                  <a:pt x="2905233" y="0"/>
                </a:lnTo>
                <a:lnTo>
                  <a:pt x="2905233" y="433144"/>
                </a:lnTo>
                <a:lnTo>
                  <a:pt x="0" y="433144"/>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8" id="8"/>
          <p:cNvSpPr/>
          <p:nvPr/>
        </p:nvSpPr>
        <p:spPr>
          <a:xfrm flipH="false" flipV="false" rot="0">
            <a:off x="-3157292" y="5143500"/>
            <a:ext cx="5143500" cy="5143500"/>
          </a:xfrm>
          <a:custGeom>
            <a:avLst/>
            <a:gdLst/>
            <a:ahLst/>
            <a:cxnLst/>
            <a:rect r="r" b="b" t="t" l="l"/>
            <a:pathLst>
              <a:path h="5143500" w="5143500">
                <a:moveTo>
                  <a:pt x="0" y="0"/>
                </a:moveTo>
                <a:lnTo>
                  <a:pt x="5143500" y="0"/>
                </a:lnTo>
                <a:lnTo>
                  <a:pt x="5143500" y="5143500"/>
                </a:lnTo>
                <a:lnTo>
                  <a:pt x="0" y="514350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9" id="9"/>
          <p:cNvSpPr/>
          <p:nvPr/>
        </p:nvSpPr>
        <p:spPr>
          <a:xfrm flipH="false" flipV="false" rot="0">
            <a:off x="2479587" y="4420247"/>
            <a:ext cx="8725749" cy="4242896"/>
          </a:xfrm>
          <a:custGeom>
            <a:avLst/>
            <a:gdLst/>
            <a:ahLst/>
            <a:cxnLst/>
            <a:rect r="r" b="b" t="t" l="l"/>
            <a:pathLst>
              <a:path h="4242896" w="8725749">
                <a:moveTo>
                  <a:pt x="0" y="0"/>
                </a:moveTo>
                <a:lnTo>
                  <a:pt x="8725750" y="0"/>
                </a:lnTo>
                <a:lnTo>
                  <a:pt x="8725750" y="4242896"/>
                </a:lnTo>
                <a:lnTo>
                  <a:pt x="0" y="4242896"/>
                </a:lnTo>
                <a:lnTo>
                  <a:pt x="0" y="0"/>
                </a:lnTo>
                <a:close/>
              </a:path>
            </a:pathLst>
          </a:custGeom>
          <a:blipFill>
            <a:blip r:embed="rId7"/>
            <a:stretch>
              <a:fillRect l="0" t="0" r="0" b="0"/>
            </a:stretch>
          </a:blipFill>
        </p:spPr>
      </p:sp>
      <p:sp>
        <p:nvSpPr>
          <p:cNvPr name="Freeform 10" id="10"/>
          <p:cNvSpPr/>
          <p:nvPr/>
        </p:nvSpPr>
        <p:spPr>
          <a:xfrm flipH="false" flipV="false" rot="0">
            <a:off x="11273559" y="3896372"/>
            <a:ext cx="5985741" cy="1571908"/>
          </a:xfrm>
          <a:custGeom>
            <a:avLst/>
            <a:gdLst/>
            <a:ahLst/>
            <a:cxnLst/>
            <a:rect r="r" b="b" t="t" l="l"/>
            <a:pathLst>
              <a:path h="1571908" w="5985741">
                <a:moveTo>
                  <a:pt x="0" y="0"/>
                </a:moveTo>
                <a:lnTo>
                  <a:pt x="5985741" y="0"/>
                </a:lnTo>
                <a:lnTo>
                  <a:pt x="5985741" y="1571908"/>
                </a:lnTo>
                <a:lnTo>
                  <a:pt x="0" y="1571908"/>
                </a:lnTo>
                <a:lnTo>
                  <a:pt x="0" y="0"/>
                </a:lnTo>
                <a:close/>
              </a:path>
            </a:pathLst>
          </a:custGeom>
          <a:blipFill>
            <a:blip r:embed="rId8"/>
            <a:stretch>
              <a:fillRect l="0" t="0" r="0" b="0"/>
            </a:stretch>
          </a:blipFill>
        </p:spPr>
      </p:sp>
      <p:sp>
        <p:nvSpPr>
          <p:cNvPr name="TextBox 11" id="11"/>
          <p:cNvSpPr txBox="true"/>
          <p:nvPr/>
        </p:nvSpPr>
        <p:spPr>
          <a:xfrm rot="0">
            <a:off x="2560432" y="2000250"/>
            <a:ext cx="6819305" cy="2067572"/>
          </a:xfrm>
          <a:prstGeom prst="rect">
            <a:avLst/>
          </a:prstGeom>
        </p:spPr>
        <p:txBody>
          <a:bodyPr anchor="t" rtlCol="false" tIns="0" lIns="0" bIns="0" rIns="0">
            <a:spAutoFit/>
          </a:bodyPr>
          <a:lstStyle/>
          <a:p>
            <a:pPr algn="just">
              <a:lnSpc>
                <a:spcPts val="4164"/>
              </a:lnSpc>
            </a:pPr>
            <a:r>
              <a:rPr lang="en-US" sz="2974">
                <a:solidFill>
                  <a:srgbClr val="2D1A52"/>
                </a:solidFill>
                <a:latin typeface="Clear Sans"/>
                <a:ea typeface="Clear Sans"/>
                <a:cs typeface="Clear Sans"/>
                <a:sym typeface="Clear Sans"/>
              </a:rPr>
              <a:t>Stopword merupakan penghapusan kata umum yang biasanya muncul dalam jumlah besar dan dianggap tidak memiliki makna</a:t>
            </a:r>
          </a:p>
        </p:txBody>
      </p:sp>
      <p:sp>
        <p:nvSpPr>
          <p:cNvPr name="TextBox 12" id="12"/>
          <p:cNvSpPr txBox="true"/>
          <p:nvPr/>
        </p:nvSpPr>
        <p:spPr>
          <a:xfrm rot="0">
            <a:off x="6314108" y="506413"/>
            <a:ext cx="11973892" cy="606425"/>
          </a:xfrm>
          <a:prstGeom prst="rect">
            <a:avLst/>
          </a:prstGeom>
        </p:spPr>
        <p:txBody>
          <a:bodyPr anchor="t" rtlCol="false" tIns="0" lIns="0" bIns="0" rIns="0">
            <a:spAutoFit/>
          </a:bodyPr>
          <a:lstStyle/>
          <a:p>
            <a:pPr algn="l">
              <a:lnSpc>
                <a:spcPts val="4900"/>
              </a:lnSpc>
            </a:pPr>
            <a:r>
              <a:rPr lang="en-US" sz="3500" b="true">
                <a:solidFill>
                  <a:srgbClr val="F9F6FF"/>
                </a:solidFill>
                <a:latin typeface="Montserrat Bold"/>
                <a:ea typeface="Montserrat Bold"/>
                <a:cs typeface="Montserrat Bold"/>
                <a:sym typeface="Montserrat Bold"/>
              </a:rPr>
              <a:t>PREPROCESSING (STOPWORD AND STEMMING)</a:t>
            </a:r>
          </a:p>
        </p:txBody>
      </p:sp>
      <p:sp>
        <p:nvSpPr>
          <p:cNvPr name="TextBox 13" id="13"/>
          <p:cNvSpPr txBox="true"/>
          <p:nvPr/>
        </p:nvSpPr>
        <p:spPr>
          <a:xfrm rot="0">
            <a:off x="11205337" y="2000250"/>
            <a:ext cx="6053963" cy="1543697"/>
          </a:xfrm>
          <a:prstGeom prst="rect">
            <a:avLst/>
          </a:prstGeom>
        </p:spPr>
        <p:txBody>
          <a:bodyPr anchor="t" rtlCol="false" tIns="0" lIns="0" bIns="0" rIns="0">
            <a:spAutoFit/>
          </a:bodyPr>
          <a:lstStyle/>
          <a:p>
            <a:pPr algn="just">
              <a:lnSpc>
                <a:spcPts val="4164"/>
              </a:lnSpc>
            </a:pPr>
            <a:r>
              <a:rPr lang="en-US" sz="2974">
                <a:solidFill>
                  <a:srgbClr val="2D1A52"/>
                </a:solidFill>
                <a:latin typeface="Clear Sans"/>
                <a:ea typeface="Clear Sans"/>
                <a:cs typeface="Clear Sans"/>
                <a:sym typeface="Clear Sans"/>
              </a:rPr>
              <a:t>Stemming merupakan proses untuk mengubah kata berimbuhan menjadi kata dasar.</a:t>
            </a:r>
          </a:p>
        </p:txBody>
      </p:sp>
    </p:spTree>
  </p:cSld>
  <p:clrMapOvr>
    <a:masterClrMapping/>
  </p:clrMapOvr>
  <p:transition spd="fast">
    <p:fade/>
  </p:transition>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6250" t="0" r="-6250" b="0"/>
            </a:stretch>
          </a:blipFill>
        </p:spPr>
      </p:sp>
      <p:sp>
        <p:nvSpPr>
          <p:cNvPr name="Freeform 3" id="3"/>
          <p:cNvSpPr/>
          <p:nvPr/>
        </p:nvSpPr>
        <p:spPr>
          <a:xfrm flipH="false" flipV="false" rot="5400000">
            <a:off x="-1704975" y="8132646"/>
            <a:ext cx="5143500" cy="5143500"/>
          </a:xfrm>
          <a:custGeom>
            <a:avLst/>
            <a:gdLst/>
            <a:ahLst/>
            <a:cxnLst/>
            <a:rect r="r" b="b" t="t" l="l"/>
            <a:pathLst>
              <a:path h="5143500" w="5143500">
                <a:moveTo>
                  <a:pt x="0" y="0"/>
                </a:moveTo>
                <a:lnTo>
                  <a:pt x="5143500" y="0"/>
                </a:lnTo>
                <a:lnTo>
                  <a:pt x="5143500" y="5143500"/>
                </a:lnTo>
                <a:lnTo>
                  <a:pt x="0" y="514350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4" id="4"/>
          <p:cNvGrpSpPr/>
          <p:nvPr/>
        </p:nvGrpSpPr>
        <p:grpSpPr>
          <a:xfrm rot="0">
            <a:off x="0" y="0"/>
            <a:ext cx="18288000" cy="1695450"/>
            <a:chOff x="0" y="0"/>
            <a:chExt cx="4816593" cy="446538"/>
          </a:xfrm>
        </p:grpSpPr>
        <p:sp>
          <p:nvSpPr>
            <p:cNvPr name="Freeform 5" id="5"/>
            <p:cNvSpPr/>
            <p:nvPr/>
          </p:nvSpPr>
          <p:spPr>
            <a:xfrm flipH="false" flipV="false" rot="0">
              <a:off x="0" y="0"/>
              <a:ext cx="4816592" cy="446538"/>
            </a:xfrm>
            <a:custGeom>
              <a:avLst/>
              <a:gdLst/>
              <a:ahLst/>
              <a:cxnLst/>
              <a:rect r="r" b="b" t="t" l="l"/>
              <a:pathLst>
                <a:path h="446538" w="4816592">
                  <a:moveTo>
                    <a:pt x="0" y="0"/>
                  </a:moveTo>
                  <a:lnTo>
                    <a:pt x="4816592" y="0"/>
                  </a:lnTo>
                  <a:lnTo>
                    <a:pt x="4816592" y="446538"/>
                  </a:lnTo>
                  <a:lnTo>
                    <a:pt x="0" y="446538"/>
                  </a:lnTo>
                  <a:close/>
                </a:path>
              </a:pathLst>
            </a:custGeom>
            <a:solidFill>
              <a:srgbClr val="004AAD"/>
            </a:solidFill>
          </p:spPr>
        </p:sp>
        <p:sp>
          <p:nvSpPr>
            <p:cNvPr name="TextBox 6" id="6"/>
            <p:cNvSpPr txBox="true"/>
            <p:nvPr/>
          </p:nvSpPr>
          <p:spPr>
            <a:xfrm>
              <a:off x="0" y="-28575"/>
              <a:ext cx="4816593" cy="475113"/>
            </a:xfrm>
            <a:prstGeom prst="rect">
              <a:avLst/>
            </a:prstGeom>
          </p:spPr>
          <p:txBody>
            <a:bodyPr anchor="ctr" rtlCol="false" tIns="50800" lIns="50800" bIns="50800" rIns="50800"/>
            <a:lstStyle/>
            <a:p>
              <a:pPr algn="ctr">
                <a:lnSpc>
                  <a:spcPts val="2659"/>
                </a:lnSpc>
              </a:pPr>
            </a:p>
          </p:txBody>
        </p:sp>
      </p:grpSp>
      <p:sp>
        <p:nvSpPr>
          <p:cNvPr name="Freeform 7" id="7"/>
          <p:cNvSpPr/>
          <p:nvPr/>
        </p:nvSpPr>
        <p:spPr>
          <a:xfrm flipH="false" flipV="false" rot="-5400000">
            <a:off x="15692025" y="3636780"/>
            <a:ext cx="3134550" cy="467333"/>
          </a:xfrm>
          <a:custGeom>
            <a:avLst/>
            <a:gdLst/>
            <a:ahLst/>
            <a:cxnLst/>
            <a:rect r="r" b="b" t="t" l="l"/>
            <a:pathLst>
              <a:path h="467333" w="3134550">
                <a:moveTo>
                  <a:pt x="0" y="0"/>
                </a:moveTo>
                <a:lnTo>
                  <a:pt x="3134550" y="0"/>
                </a:lnTo>
                <a:lnTo>
                  <a:pt x="3134550" y="467333"/>
                </a:lnTo>
                <a:lnTo>
                  <a:pt x="0" y="467333"/>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8" id="8"/>
          <p:cNvSpPr/>
          <p:nvPr/>
        </p:nvSpPr>
        <p:spPr>
          <a:xfrm flipH="false" flipV="false" rot="5400000">
            <a:off x="3438525" y="8132646"/>
            <a:ext cx="5143500" cy="5143500"/>
          </a:xfrm>
          <a:custGeom>
            <a:avLst/>
            <a:gdLst/>
            <a:ahLst/>
            <a:cxnLst/>
            <a:rect r="r" b="b" t="t" l="l"/>
            <a:pathLst>
              <a:path h="5143500" w="5143500">
                <a:moveTo>
                  <a:pt x="0" y="0"/>
                </a:moveTo>
                <a:lnTo>
                  <a:pt x="5143500" y="0"/>
                </a:lnTo>
                <a:lnTo>
                  <a:pt x="5143500" y="5143500"/>
                </a:lnTo>
                <a:lnTo>
                  <a:pt x="0" y="514350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9" id="9"/>
          <p:cNvSpPr/>
          <p:nvPr/>
        </p:nvSpPr>
        <p:spPr>
          <a:xfrm flipH="false" flipV="false" rot="0">
            <a:off x="1028700" y="2947341"/>
            <a:ext cx="7137804" cy="4765295"/>
          </a:xfrm>
          <a:custGeom>
            <a:avLst/>
            <a:gdLst/>
            <a:ahLst/>
            <a:cxnLst/>
            <a:rect r="r" b="b" t="t" l="l"/>
            <a:pathLst>
              <a:path h="4765295" w="7137804">
                <a:moveTo>
                  <a:pt x="0" y="0"/>
                </a:moveTo>
                <a:lnTo>
                  <a:pt x="7137804" y="0"/>
                </a:lnTo>
                <a:lnTo>
                  <a:pt x="7137804" y="4765296"/>
                </a:lnTo>
                <a:lnTo>
                  <a:pt x="0" y="4765296"/>
                </a:lnTo>
                <a:lnTo>
                  <a:pt x="0" y="0"/>
                </a:lnTo>
                <a:close/>
              </a:path>
            </a:pathLst>
          </a:custGeom>
          <a:blipFill>
            <a:blip r:embed="rId7"/>
            <a:stretch>
              <a:fillRect l="0" t="0" r="0" b="0"/>
            </a:stretch>
          </a:blipFill>
        </p:spPr>
      </p:sp>
      <p:sp>
        <p:nvSpPr>
          <p:cNvPr name="Freeform 10" id="10"/>
          <p:cNvSpPr/>
          <p:nvPr/>
        </p:nvSpPr>
        <p:spPr>
          <a:xfrm flipH="false" flipV="false" rot="0">
            <a:off x="8725192" y="2908332"/>
            <a:ext cx="7579828" cy="4765295"/>
          </a:xfrm>
          <a:custGeom>
            <a:avLst/>
            <a:gdLst/>
            <a:ahLst/>
            <a:cxnLst/>
            <a:rect r="r" b="b" t="t" l="l"/>
            <a:pathLst>
              <a:path h="4765295" w="7579828">
                <a:moveTo>
                  <a:pt x="0" y="0"/>
                </a:moveTo>
                <a:lnTo>
                  <a:pt x="7579828" y="0"/>
                </a:lnTo>
                <a:lnTo>
                  <a:pt x="7579828" y="4765296"/>
                </a:lnTo>
                <a:lnTo>
                  <a:pt x="0" y="4765296"/>
                </a:lnTo>
                <a:lnTo>
                  <a:pt x="0" y="0"/>
                </a:lnTo>
                <a:close/>
              </a:path>
            </a:pathLst>
          </a:custGeom>
          <a:blipFill>
            <a:blip r:embed="rId8"/>
            <a:stretch>
              <a:fillRect l="0" t="0" r="0" b="0"/>
            </a:stretch>
          </a:blipFill>
        </p:spPr>
      </p:sp>
      <p:sp>
        <p:nvSpPr>
          <p:cNvPr name="TextBox 11" id="11"/>
          <p:cNvSpPr txBox="true"/>
          <p:nvPr/>
        </p:nvSpPr>
        <p:spPr>
          <a:xfrm rot="0">
            <a:off x="1352550" y="449263"/>
            <a:ext cx="16508721" cy="606425"/>
          </a:xfrm>
          <a:prstGeom prst="rect">
            <a:avLst/>
          </a:prstGeom>
        </p:spPr>
        <p:txBody>
          <a:bodyPr anchor="t" rtlCol="false" tIns="0" lIns="0" bIns="0" rIns="0">
            <a:spAutoFit/>
          </a:bodyPr>
          <a:lstStyle/>
          <a:p>
            <a:pPr algn="l">
              <a:lnSpc>
                <a:spcPts val="4900"/>
              </a:lnSpc>
            </a:pPr>
            <a:r>
              <a:rPr lang="en-US" sz="3500" b="true">
                <a:solidFill>
                  <a:srgbClr val="F9F6FF"/>
                </a:solidFill>
                <a:latin typeface="Montserrat Bold"/>
                <a:ea typeface="Montserrat Bold"/>
                <a:cs typeface="Montserrat Bold"/>
                <a:sym typeface="Montserrat Bold"/>
              </a:rPr>
              <a:t>PERBANDINGAN DATA SEBELUM DAN SESUDAH PREPROCESSING</a:t>
            </a:r>
          </a:p>
        </p:txBody>
      </p:sp>
      <p:sp>
        <p:nvSpPr>
          <p:cNvPr name="TextBox 12" id="12"/>
          <p:cNvSpPr txBox="true"/>
          <p:nvPr/>
        </p:nvSpPr>
        <p:spPr>
          <a:xfrm rot="0">
            <a:off x="717079" y="2031385"/>
            <a:ext cx="10938642" cy="495947"/>
          </a:xfrm>
          <a:prstGeom prst="rect">
            <a:avLst/>
          </a:prstGeom>
        </p:spPr>
        <p:txBody>
          <a:bodyPr anchor="t" rtlCol="false" tIns="0" lIns="0" bIns="0" rIns="0">
            <a:spAutoFit/>
          </a:bodyPr>
          <a:lstStyle/>
          <a:p>
            <a:pPr algn="just">
              <a:lnSpc>
                <a:spcPts val="4164"/>
              </a:lnSpc>
            </a:pPr>
            <a:r>
              <a:rPr lang="en-US" sz="2974">
                <a:solidFill>
                  <a:srgbClr val="2D1A52"/>
                </a:solidFill>
                <a:latin typeface="Clear Sans"/>
                <a:ea typeface="Clear Sans"/>
                <a:cs typeface="Clear Sans"/>
                <a:sym typeface="Clear Sans"/>
              </a:rPr>
              <a:t>Setelah dilakukan preprocessing data mengalami penurunan.</a:t>
            </a:r>
          </a:p>
        </p:txBody>
      </p:sp>
    </p:spTree>
  </p:cSld>
  <p:clrMapOvr>
    <a:masterClrMapping/>
  </p:clrMapOvr>
  <p:transition spd="fast">
    <p:fade/>
  </p:transition>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6250" t="0" r="-6250" b="0"/>
            </a:stretch>
          </a:blipFill>
        </p:spPr>
      </p:sp>
      <p:sp>
        <p:nvSpPr>
          <p:cNvPr name="Freeform 3" id="3"/>
          <p:cNvSpPr/>
          <p:nvPr/>
        </p:nvSpPr>
        <p:spPr>
          <a:xfrm flipH="false" flipV="false" rot="-5400000">
            <a:off x="13144500" y="-2928736"/>
            <a:ext cx="5143500" cy="5143500"/>
          </a:xfrm>
          <a:custGeom>
            <a:avLst/>
            <a:gdLst/>
            <a:ahLst/>
            <a:cxnLst/>
            <a:rect r="r" b="b" t="t" l="l"/>
            <a:pathLst>
              <a:path h="5143500" w="5143500">
                <a:moveTo>
                  <a:pt x="0" y="0"/>
                </a:moveTo>
                <a:lnTo>
                  <a:pt x="5143500" y="0"/>
                </a:lnTo>
                <a:lnTo>
                  <a:pt x="5143500" y="5143500"/>
                </a:lnTo>
                <a:lnTo>
                  <a:pt x="0" y="514350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4" id="4"/>
          <p:cNvGrpSpPr/>
          <p:nvPr/>
        </p:nvGrpSpPr>
        <p:grpSpPr>
          <a:xfrm rot="0">
            <a:off x="0" y="0"/>
            <a:ext cx="5149977" cy="1695450"/>
            <a:chOff x="0" y="0"/>
            <a:chExt cx="1356372" cy="446538"/>
          </a:xfrm>
        </p:grpSpPr>
        <p:sp>
          <p:nvSpPr>
            <p:cNvPr name="Freeform 5" id="5"/>
            <p:cNvSpPr/>
            <p:nvPr/>
          </p:nvSpPr>
          <p:spPr>
            <a:xfrm flipH="false" flipV="false" rot="0">
              <a:off x="0" y="0"/>
              <a:ext cx="1356372" cy="446538"/>
            </a:xfrm>
            <a:custGeom>
              <a:avLst/>
              <a:gdLst/>
              <a:ahLst/>
              <a:cxnLst/>
              <a:rect r="r" b="b" t="t" l="l"/>
              <a:pathLst>
                <a:path h="446538" w="1356372">
                  <a:moveTo>
                    <a:pt x="0" y="0"/>
                  </a:moveTo>
                  <a:lnTo>
                    <a:pt x="1356372" y="0"/>
                  </a:lnTo>
                  <a:lnTo>
                    <a:pt x="1356372" y="446538"/>
                  </a:lnTo>
                  <a:lnTo>
                    <a:pt x="0" y="446538"/>
                  </a:lnTo>
                  <a:close/>
                </a:path>
              </a:pathLst>
            </a:custGeom>
            <a:solidFill>
              <a:srgbClr val="004AAD"/>
            </a:solidFill>
          </p:spPr>
        </p:sp>
        <p:sp>
          <p:nvSpPr>
            <p:cNvPr name="TextBox 6" id="6"/>
            <p:cNvSpPr txBox="true"/>
            <p:nvPr/>
          </p:nvSpPr>
          <p:spPr>
            <a:xfrm>
              <a:off x="0" y="-28575"/>
              <a:ext cx="1356372" cy="475113"/>
            </a:xfrm>
            <a:prstGeom prst="rect">
              <a:avLst/>
            </a:prstGeom>
          </p:spPr>
          <p:txBody>
            <a:bodyPr anchor="ctr" rtlCol="false" tIns="50800" lIns="50800" bIns="50800" rIns="50800"/>
            <a:lstStyle/>
            <a:p>
              <a:pPr algn="ctr">
                <a:lnSpc>
                  <a:spcPts val="2659"/>
                </a:lnSpc>
              </a:pPr>
            </a:p>
          </p:txBody>
        </p:sp>
      </p:grpSp>
      <p:sp>
        <p:nvSpPr>
          <p:cNvPr name="Freeform 7" id="7"/>
          <p:cNvSpPr/>
          <p:nvPr/>
        </p:nvSpPr>
        <p:spPr>
          <a:xfrm flipH="false" flipV="false" rot="0">
            <a:off x="14602927" y="8862259"/>
            <a:ext cx="2656373" cy="396041"/>
          </a:xfrm>
          <a:custGeom>
            <a:avLst/>
            <a:gdLst/>
            <a:ahLst/>
            <a:cxnLst/>
            <a:rect r="r" b="b" t="t" l="l"/>
            <a:pathLst>
              <a:path h="396041" w="2656373">
                <a:moveTo>
                  <a:pt x="0" y="0"/>
                </a:moveTo>
                <a:lnTo>
                  <a:pt x="2656373" y="0"/>
                </a:lnTo>
                <a:lnTo>
                  <a:pt x="2656373" y="396041"/>
                </a:lnTo>
                <a:lnTo>
                  <a:pt x="0" y="396041"/>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8" id="8"/>
          <p:cNvSpPr/>
          <p:nvPr/>
        </p:nvSpPr>
        <p:spPr>
          <a:xfrm flipH="false" flipV="false" rot="-5400000">
            <a:off x="6477" y="7981950"/>
            <a:ext cx="5143500" cy="5143500"/>
          </a:xfrm>
          <a:custGeom>
            <a:avLst/>
            <a:gdLst/>
            <a:ahLst/>
            <a:cxnLst/>
            <a:rect r="r" b="b" t="t" l="l"/>
            <a:pathLst>
              <a:path h="5143500" w="5143500">
                <a:moveTo>
                  <a:pt x="0" y="0"/>
                </a:moveTo>
                <a:lnTo>
                  <a:pt x="5143500" y="0"/>
                </a:lnTo>
                <a:lnTo>
                  <a:pt x="5143500" y="5143500"/>
                </a:lnTo>
                <a:lnTo>
                  <a:pt x="0" y="514350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9" id="9"/>
          <p:cNvSpPr/>
          <p:nvPr/>
        </p:nvSpPr>
        <p:spPr>
          <a:xfrm flipH="false" flipV="false" rot="0">
            <a:off x="8750400" y="2698183"/>
            <a:ext cx="8508900" cy="5680658"/>
          </a:xfrm>
          <a:custGeom>
            <a:avLst/>
            <a:gdLst/>
            <a:ahLst/>
            <a:cxnLst/>
            <a:rect r="r" b="b" t="t" l="l"/>
            <a:pathLst>
              <a:path h="5680658" w="8508900">
                <a:moveTo>
                  <a:pt x="0" y="0"/>
                </a:moveTo>
                <a:lnTo>
                  <a:pt x="8508900" y="0"/>
                </a:lnTo>
                <a:lnTo>
                  <a:pt x="8508900" y="5680657"/>
                </a:lnTo>
                <a:lnTo>
                  <a:pt x="0" y="5680657"/>
                </a:lnTo>
                <a:lnTo>
                  <a:pt x="0" y="0"/>
                </a:lnTo>
                <a:close/>
              </a:path>
            </a:pathLst>
          </a:custGeom>
          <a:blipFill>
            <a:blip r:embed="rId7"/>
            <a:stretch>
              <a:fillRect l="0" t="0" r="0" b="0"/>
            </a:stretch>
          </a:blipFill>
        </p:spPr>
      </p:sp>
      <p:sp>
        <p:nvSpPr>
          <p:cNvPr name="TextBox 10" id="10"/>
          <p:cNvSpPr txBox="true"/>
          <p:nvPr/>
        </p:nvSpPr>
        <p:spPr>
          <a:xfrm rot="0">
            <a:off x="1197934" y="506413"/>
            <a:ext cx="10775358" cy="606425"/>
          </a:xfrm>
          <a:prstGeom prst="rect">
            <a:avLst/>
          </a:prstGeom>
        </p:spPr>
        <p:txBody>
          <a:bodyPr anchor="t" rtlCol="false" tIns="0" lIns="0" bIns="0" rIns="0">
            <a:spAutoFit/>
          </a:bodyPr>
          <a:lstStyle/>
          <a:p>
            <a:pPr algn="l">
              <a:lnSpc>
                <a:spcPts val="4900"/>
              </a:lnSpc>
            </a:pPr>
            <a:r>
              <a:rPr lang="en-US" sz="3500" b="true">
                <a:solidFill>
                  <a:srgbClr val="F9F6FF"/>
                </a:solidFill>
                <a:latin typeface="Montserrat Bold"/>
                <a:ea typeface="Montserrat Bold"/>
                <a:cs typeface="Montserrat Bold"/>
                <a:sym typeface="Montserrat Bold"/>
              </a:rPr>
              <a:t>PELABELAN</a:t>
            </a:r>
          </a:p>
        </p:txBody>
      </p:sp>
      <p:sp>
        <p:nvSpPr>
          <p:cNvPr name="TextBox 11" id="11"/>
          <p:cNvSpPr txBox="true"/>
          <p:nvPr/>
        </p:nvSpPr>
        <p:spPr>
          <a:xfrm rot="0">
            <a:off x="520940" y="2480537"/>
            <a:ext cx="7920270" cy="4686947"/>
          </a:xfrm>
          <a:prstGeom prst="rect">
            <a:avLst/>
          </a:prstGeom>
        </p:spPr>
        <p:txBody>
          <a:bodyPr anchor="t" rtlCol="false" tIns="0" lIns="0" bIns="0" rIns="0">
            <a:spAutoFit/>
          </a:bodyPr>
          <a:lstStyle/>
          <a:p>
            <a:pPr algn="just">
              <a:lnSpc>
                <a:spcPts val="4164"/>
              </a:lnSpc>
            </a:pPr>
            <a:r>
              <a:rPr lang="en-US" sz="2974">
                <a:solidFill>
                  <a:srgbClr val="2D1A52"/>
                </a:solidFill>
                <a:latin typeface="Clear Sans"/>
                <a:ea typeface="Clear Sans"/>
                <a:cs typeface="Clear Sans"/>
                <a:sym typeface="Clear Sans"/>
              </a:rPr>
              <a:t>Pelabelan sentimen dilakukan menggunakan metode lexicon-based, yaitu dengan mencocokkan kata-kata pada ulasan pengguna dengan kamus sentimen yang telah ditentukan. Setiap ulasan kemudian diklasifikasikan ke dalam tiga kategori sentimen, yaitu positif, negatif, dan netral, berdasarkan dominasi kata sentimen yang muncul pada teks ulasan.</a:t>
            </a:r>
          </a:p>
        </p:txBody>
      </p:sp>
    </p:spTree>
  </p:cSld>
  <p:clrMapOvr>
    <a:masterClrMapping/>
  </p:clrMapOvr>
  <p:transition spd="fast">
    <p:fade/>
  </p:transition>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6250" t="0" r="-6250" b="0"/>
            </a:stretch>
          </a:blipFill>
        </p:spPr>
      </p:sp>
      <p:sp>
        <p:nvSpPr>
          <p:cNvPr name="Freeform 3" id="3"/>
          <p:cNvSpPr/>
          <p:nvPr/>
        </p:nvSpPr>
        <p:spPr>
          <a:xfrm flipH="false" flipV="false" rot="-5400000">
            <a:off x="-339190" y="7981950"/>
            <a:ext cx="5143500" cy="5143500"/>
          </a:xfrm>
          <a:custGeom>
            <a:avLst/>
            <a:gdLst/>
            <a:ahLst/>
            <a:cxnLst/>
            <a:rect r="r" b="b" t="t" l="l"/>
            <a:pathLst>
              <a:path h="5143500" w="5143500">
                <a:moveTo>
                  <a:pt x="0" y="0"/>
                </a:moveTo>
                <a:lnTo>
                  <a:pt x="5143500" y="0"/>
                </a:lnTo>
                <a:lnTo>
                  <a:pt x="5143500" y="5143500"/>
                </a:lnTo>
                <a:lnTo>
                  <a:pt x="0" y="514350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4" id="4"/>
          <p:cNvGrpSpPr/>
          <p:nvPr/>
        </p:nvGrpSpPr>
        <p:grpSpPr>
          <a:xfrm rot="0">
            <a:off x="0" y="0"/>
            <a:ext cx="8616523" cy="1695450"/>
            <a:chOff x="0" y="0"/>
            <a:chExt cx="2269372" cy="446538"/>
          </a:xfrm>
        </p:grpSpPr>
        <p:sp>
          <p:nvSpPr>
            <p:cNvPr name="Freeform 5" id="5"/>
            <p:cNvSpPr/>
            <p:nvPr/>
          </p:nvSpPr>
          <p:spPr>
            <a:xfrm flipH="false" flipV="false" rot="0">
              <a:off x="0" y="0"/>
              <a:ext cx="2269372" cy="446538"/>
            </a:xfrm>
            <a:custGeom>
              <a:avLst/>
              <a:gdLst/>
              <a:ahLst/>
              <a:cxnLst/>
              <a:rect r="r" b="b" t="t" l="l"/>
              <a:pathLst>
                <a:path h="446538" w="2269372">
                  <a:moveTo>
                    <a:pt x="0" y="0"/>
                  </a:moveTo>
                  <a:lnTo>
                    <a:pt x="2269372" y="0"/>
                  </a:lnTo>
                  <a:lnTo>
                    <a:pt x="2269372" y="446538"/>
                  </a:lnTo>
                  <a:lnTo>
                    <a:pt x="0" y="446538"/>
                  </a:lnTo>
                  <a:close/>
                </a:path>
              </a:pathLst>
            </a:custGeom>
            <a:solidFill>
              <a:srgbClr val="004AAD"/>
            </a:solidFill>
          </p:spPr>
        </p:sp>
        <p:sp>
          <p:nvSpPr>
            <p:cNvPr name="TextBox 6" id="6"/>
            <p:cNvSpPr txBox="true"/>
            <p:nvPr/>
          </p:nvSpPr>
          <p:spPr>
            <a:xfrm>
              <a:off x="0" y="-28575"/>
              <a:ext cx="2269372" cy="475113"/>
            </a:xfrm>
            <a:prstGeom prst="rect">
              <a:avLst/>
            </a:prstGeom>
          </p:spPr>
          <p:txBody>
            <a:bodyPr anchor="ctr" rtlCol="false" tIns="50800" lIns="50800" bIns="50800" rIns="50800"/>
            <a:lstStyle/>
            <a:p>
              <a:pPr algn="ctr">
                <a:lnSpc>
                  <a:spcPts val="2659"/>
                </a:lnSpc>
              </a:pPr>
            </a:p>
          </p:txBody>
        </p:sp>
      </p:grpSp>
      <p:sp>
        <p:nvSpPr>
          <p:cNvPr name="Freeform 7" id="7"/>
          <p:cNvSpPr/>
          <p:nvPr/>
        </p:nvSpPr>
        <p:spPr>
          <a:xfrm flipH="false" flipV="false" rot="0">
            <a:off x="13839676" y="632659"/>
            <a:ext cx="2656373" cy="396041"/>
          </a:xfrm>
          <a:custGeom>
            <a:avLst/>
            <a:gdLst/>
            <a:ahLst/>
            <a:cxnLst/>
            <a:rect r="r" b="b" t="t" l="l"/>
            <a:pathLst>
              <a:path h="396041" w="2656373">
                <a:moveTo>
                  <a:pt x="0" y="0"/>
                </a:moveTo>
                <a:lnTo>
                  <a:pt x="2656373" y="0"/>
                </a:lnTo>
                <a:lnTo>
                  <a:pt x="2656373" y="396041"/>
                </a:lnTo>
                <a:lnTo>
                  <a:pt x="0" y="396041"/>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8" id="8"/>
          <p:cNvSpPr/>
          <p:nvPr/>
        </p:nvSpPr>
        <p:spPr>
          <a:xfrm flipH="false" flipV="false" rot="-5400000">
            <a:off x="15091310" y="7981950"/>
            <a:ext cx="5143500" cy="5143500"/>
          </a:xfrm>
          <a:custGeom>
            <a:avLst/>
            <a:gdLst/>
            <a:ahLst/>
            <a:cxnLst/>
            <a:rect r="r" b="b" t="t" l="l"/>
            <a:pathLst>
              <a:path h="5143500" w="5143500">
                <a:moveTo>
                  <a:pt x="0" y="0"/>
                </a:moveTo>
                <a:lnTo>
                  <a:pt x="5143500" y="0"/>
                </a:lnTo>
                <a:lnTo>
                  <a:pt x="5143500" y="5143500"/>
                </a:lnTo>
                <a:lnTo>
                  <a:pt x="0" y="514350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9" id="9"/>
          <p:cNvSpPr/>
          <p:nvPr/>
        </p:nvSpPr>
        <p:spPr>
          <a:xfrm flipH="false" flipV="false" rot="-5400000">
            <a:off x="4804310" y="7981950"/>
            <a:ext cx="5143500" cy="5143500"/>
          </a:xfrm>
          <a:custGeom>
            <a:avLst/>
            <a:gdLst/>
            <a:ahLst/>
            <a:cxnLst/>
            <a:rect r="r" b="b" t="t" l="l"/>
            <a:pathLst>
              <a:path h="5143500" w="5143500">
                <a:moveTo>
                  <a:pt x="0" y="0"/>
                </a:moveTo>
                <a:lnTo>
                  <a:pt x="5143500" y="0"/>
                </a:lnTo>
                <a:lnTo>
                  <a:pt x="5143500" y="5143500"/>
                </a:lnTo>
                <a:lnTo>
                  <a:pt x="0" y="514350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0" id="10"/>
          <p:cNvSpPr/>
          <p:nvPr/>
        </p:nvSpPr>
        <p:spPr>
          <a:xfrm flipH="false" flipV="false" rot="-5400000">
            <a:off x="9947810" y="7981950"/>
            <a:ext cx="5143500" cy="5143500"/>
          </a:xfrm>
          <a:custGeom>
            <a:avLst/>
            <a:gdLst/>
            <a:ahLst/>
            <a:cxnLst/>
            <a:rect r="r" b="b" t="t" l="l"/>
            <a:pathLst>
              <a:path h="5143500" w="5143500">
                <a:moveTo>
                  <a:pt x="0" y="0"/>
                </a:moveTo>
                <a:lnTo>
                  <a:pt x="5143500" y="0"/>
                </a:lnTo>
                <a:lnTo>
                  <a:pt x="5143500" y="5143500"/>
                </a:lnTo>
                <a:lnTo>
                  <a:pt x="0" y="514350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1" id="11"/>
          <p:cNvSpPr/>
          <p:nvPr/>
        </p:nvSpPr>
        <p:spPr>
          <a:xfrm flipH="false" flipV="false" rot="0">
            <a:off x="770243" y="3146524"/>
            <a:ext cx="5195951" cy="3951613"/>
          </a:xfrm>
          <a:custGeom>
            <a:avLst/>
            <a:gdLst/>
            <a:ahLst/>
            <a:cxnLst/>
            <a:rect r="r" b="b" t="t" l="l"/>
            <a:pathLst>
              <a:path h="3951613" w="5195951">
                <a:moveTo>
                  <a:pt x="0" y="0"/>
                </a:moveTo>
                <a:lnTo>
                  <a:pt x="5195951" y="0"/>
                </a:lnTo>
                <a:lnTo>
                  <a:pt x="5195951" y="3951613"/>
                </a:lnTo>
                <a:lnTo>
                  <a:pt x="0" y="3951613"/>
                </a:lnTo>
                <a:lnTo>
                  <a:pt x="0" y="0"/>
                </a:lnTo>
                <a:close/>
              </a:path>
            </a:pathLst>
          </a:custGeom>
          <a:blipFill>
            <a:blip r:embed="rId7"/>
            <a:stretch>
              <a:fillRect l="0" t="0" r="0" b="0"/>
            </a:stretch>
          </a:blipFill>
        </p:spPr>
      </p:sp>
      <p:sp>
        <p:nvSpPr>
          <p:cNvPr name="Freeform 12" id="12"/>
          <p:cNvSpPr/>
          <p:nvPr/>
        </p:nvSpPr>
        <p:spPr>
          <a:xfrm flipH="false" flipV="false" rot="0">
            <a:off x="6546024" y="3146524"/>
            <a:ext cx="5195951" cy="3951613"/>
          </a:xfrm>
          <a:custGeom>
            <a:avLst/>
            <a:gdLst/>
            <a:ahLst/>
            <a:cxnLst/>
            <a:rect r="r" b="b" t="t" l="l"/>
            <a:pathLst>
              <a:path h="3951613" w="5195951">
                <a:moveTo>
                  <a:pt x="0" y="0"/>
                </a:moveTo>
                <a:lnTo>
                  <a:pt x="5195952" y="0"/>
                </a:lnTo>
                <a:lnTo>
                  <a:pt x="5195952" y="3951613"/>
                </a:lnTo>
                <a:lnTo>
                  <a:pt x="0" y="3951613"/>
                </a:lnTo>
                <a:lnTo>
                  <a:pt x="0" y="0"/>
                </a:lnTo>
                <a:close/>
              </a:path>
            </a:pathLst>
          </a:custGeom>
          <a:blipFill>
            <a:blip r:embed="rId8"/>
            <a:stretch>
              <a:fillRect l="0" t="0" r="0" b="0"/>
            </a:stretch>
          </a:blipFill>
        </p:spPr>
      </p:sp>
      <p:sp>
        <p:nvSpPr>
          <p:cNvPr name="Freeform 13" id="13"/>
          <p:cNvSpPr/>
          <p:nvPr/>
        </p:nvSpPr>
        <p:spPr>
          <a:xfrm flipH="false" flipV="false" rot="0">
            <a:off x="12323001" y="3146524"/>
            <a:ext cx="5195951" cy="3951613"/>
          </a:xfrm>
          <a:custGeom>
            <a:avLst/>
            <a:gdLst/>
            <a:ahLst/>
            <a:cxnLst/>
            <a:rect r="r" b="b" t="t" l="l"/>
            <a:pathLst>
              <a:path h="3951613" w="5195951">
                <a:moveTo>
                  <a:pt x="0" y="0"/>
                </a:moveTo>
                <a:lnTo>
                  <a:pt x="5195951" y="0"/>
                </a:lnTo>
                <a:lnTo>
                  <a:pt x="5195951" y="3951613"/>
                </a:lnTo>
                <a:lnTo>
                  <a:pt x="0" y="3951613"/>
                </a:lnTo>
                <a:lnTo>
                  <a:pt x="0" y="0"/>
                </a:lnTo>
                <a:close/>
              </a:path>
            </a:pathLst>
          </a:custGeom>
          <a:blipFill>
            <a:blip r:embed="rId9"/>
            <a:stretch>
              <a:fillRect l="0" t="0" r="0" b="0"/>
            </a:stretch>
          </a:blipFill>
        </p:spPr>
      </p:sp>
      <p:sp>
        <p:nvSpPr>
          <p:cNvPr name="TextBox 14" id="14"/>
          <p:cNvSpPr txBox="true"/>
          <p:nvPr/>
        </p:nvSpPr>
        <p:spPr>
          <a:xfrm rot="0">
            <a:off x="1547642" y="489367"/>
            <a:ext cx="10775358" cy="606425"/>
          </a:xfrm>
          <a:prstGeom prst="rect">
            <a:avLst/>
          </a:prstGeom>
        </p:spPr>
        <p:txBody>
          <a:bodyPr anchor="t" rtlCol="false" tIns="0" lIns="0" bIns="0" rIns="0">
            <a:spAutoFit/>
          </a:bodyPr>
          <a:lstStyle/>
          <a:p>
            <a:pPr algn="l">
              <a:lnSpc>
                <a:spcPts val="4900"/>
              </a:lnSpc>
            </a:pPr>
            <a:r>
              <a:rPr lang="en-US" sz="3500" b="true">
                <a:solidFill>
                  <a:srgbClr val="F9F6FF"/>
                </a:solidFill>
                <a:latin typeface="Montserrat Bold"/>
                <a:ea typeface="Montserrat Bold"/>
                <a:cs typeface="Montserrat Bold"/>
                <a:sym typeface="Montserrat Bold"/>
              </a:rPr>
              <a:t>DISTRIBUSI SENTIMEN</a:t>
            </a:r>
          </a:p>
        </p:txBody>
      </p:sp>
    </p:spTree>
  </p:cSld>
  <p:clrMapOvr>
    <a:masterClrMapping/>
  </p:clrMapOvr>
  <p:transition spd="fast">
    <p:fade/>
  </p:transition>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6250" t="0" r="-6250" b="0"/>
            </a:stretch>
          </a:blipFill>
        </p:spPr>
      </p:sp>
      <p:sp>
        <p:nvSpPr>
          <p:cNvPr name="Freeform 3" id="3"/>
          <p:cNvSpPr/>
          <p:nvPr/>
        </p:nvSpPr>
        <p:spPr>
          <a:xfrm flipH="false" flipV="false" rot="-5400000">
            <a:off x="-339190" y="7981950"/>
            <a:ext cx="5143500" cy="5143500"/>
          </a:xfrm>
          <a:custGeom>
            <a:avLst/>
            <a:gdLst/>
            <a:ahLst/>
            <a:cxnLst/>
            <a:rect r="r" b="b" t="t" l="l"/>
            <a:pathLst>
              <a:path h="5143500" w="5143500">
                <a:moveTo>
                  <a:pt x="0" y="0"/>
                </a:moveTo>
                <a:lnTo>
                  <a:pt x="5143500" y="0"/>
                </a:lnTo>
                <a:lnTo>
                  <a:pt x="5143500" y="5143500"/>
                </a:lnTo>
                <a:lnTo>
                  <a:pt x="0" y="514350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4" id="4"/>
          <p:cNvGrpSpPr/>
          <p:nvPr/>
        </p:nvGrpSpPr>
        <p:grpSpPr>
          <a:xfrm rot="0">
            <a:off x="0" y="0"/>
            <a:ext cx="8616523" cy="1695450"/>
            <a:chOff x="0" y="0"/>
            <a:chExt cx="2269372" cy="446538"/>
          </a:xfrm>
        </p:grpSpPr>
        <p:sp>
          <p:nvSpPr>
            <p:cNvPr name="Freeform 5" id="5"/>
            <p:cNvSpPr/>
            <p:nvPr/>
          </p:nvSpPr>
          <p:spPr>
            <a:xfrm flipH="false" flipV="false" rot="0">
              <a:off x="0" y="0"/>
              <a:ext cx="2269372" cy="446538"/>
            </a:xfrm>
            <a:custGeom>
              <a:avLst/>
              <a:gdLst/>
              <a:ahLst/>
              <a:cxnLst/>
              <a:rect r="r" b="b" t="t" l="l"/>
              <a:pathLst>
                <a:path h="446538" w="2269372">
                  <a:moveTo>
                    <a:pt x="0" y="0"/>
                  </a:moveTo>
                  <a:lnTo>
                    <a:pt x="2269372" y="0"/>
                  </a:lnTo>
                  <a:lnTo>
                    <a:pt x="2269372" y="446538"/>
                  </a:lnTo>
                  <a:lnTo>
                    <a:pt x="0" y="446538"/>
                  </a:lnTo>
                  <a:close/>
                </a:path>
              </a:pathLst>
            </a:custGeom>
            <a:solidFill>
              <a:srgbClr val="004AAD"/>
            </a:solidFill>
          </p:spPr>
        </p:sp>
        <p:sp>
          <p:nvSpPr>
            <p:cNvPr name="TextBox 6" id="6"/>
            <p:cNvSpPr txBox="true"/>
            <p:nvPr/>
          </p:nvSpPr>
          <p:spPr>
            <a:xfrm>
              <a:off x="0" y="-28575"/>
              <a:ext cx="2269372" cy="475113"/>
            </a:xfrm>
            <a:prstGeom prst="rect">
              <a:avLst/>
            </a:prstGeom>
          </p:spPr>
          <p:txBody>
            <a:bodyPr anchor="ctr" rtlCol="false" tIns="50800" lIns="50800" bIns="50800" rIns="50800"/>
            <a:lstStyle/>
            <a:p>
              <a:pPr algn="ctr">
                <a:lnSpc>
                  <a:spcPts val="2659"/>
                </a:lnSpc>
              </a:pPr>
            </a:p>
          </p:txBody>
        </p:sp>
      </p:grpSp>
      <p:sp>
        <p:nvSpPr>
          <p:cNvPr name="Freeform 7" id="7"/>
          <p:cNvSpPr/>
          <p:nvPr/>
        </p:nvSpPr>
        <p:spPr>
          <a:xfrm flipH="false" flipV="false" rot="0">
            <a:off x="13839676" y="632659"/>
            <a:ext cx="2656373" cy="396041"/>
          </a:xfrm>
          <a:custGeom>
            <a:avLst/>
            <a:gdLst/>
            <a:ahLst/>
            <a:cxnLst/>
            <a:rect r="r" b="b" t="t" l="l"/>
            <a:pathLst>
              <a:path h="396041" w="2656373">
                <a:moveTo>
                  <a:pt x="0" y="0"/>
                </a:moveTo>
                <a:lnTo>
                  <a:pt x="2656373" y="0"/>
                </a:lnTo>
                <a:lnTo>
                  <a:pt x="2656373" y="396041"/>
                </a:lnTo>
                <a:lnTo>
                  <a:pt x="0" y="396041"/>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8" id="8"/>
          <p:cNvSpPr/>
          <p:nvPr/>
        </p:nvSpPr>
        <p:spPr>
          <a:xfrm flipH="false" flipV="false" rot="-5400000">
            <a:off x="15091310" y="7981950"/>
            <a:ext cx="5143500" cy="5143500"/>
          </a:xfrm>
          <a:custGeom>
            <a:avLst/>
            <a:gdLst/>
            <a:ahLst/>
            <a:cxnLst/>
            <a:rect r="r" b="b" t="t" l="l"/>
            <a:pathLst>
              <a:path h="5143500" w="5143500">
                <a:moveTo>
                  <a:pt x="0" y="0"/>
                </a:moveTo>
                <a:lnTo>
                  <a:pt x="5143500" y="0"/>
                </a:lnTo>
                <a:lnTo>
                  <a:pt x="5143500" y="5143500"/>
                </a:lnTo>
                <a:lnTo>
                  <a:pt x="0" y="514350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9" id="9"/>
          <p:cNvSpPr/>
          <p:nvPr/>
        </p:nvSpPr>
        <p:spPr>
          <a:xfrm flipH="false" flipV="false" rot="-5400000">
            <a:off x="4804310" y="7981950"/>
            <a:ext cx="5143500" cy="5143500"/>
          </a:xfrm>
          <a:custGeom>
            <a:avLst/>
            <a:gdLst/>
            <a:ahLst/>
            <a:cxnLst/>
            <a:rect r="r" b="b" t="t" l="l"/>
            <a:pathLst>
              <a:path h="5143500" w="5143500">
                <a:moveTo>
                  <a:pt x="0" y="0"/>
                </a:moveTo>
                <a:lnTo>
                  <a:pt x="5143500" y="0"/>
                </a:lnTo>
                <a:lnTo>
                  <a:pt x="5143500" y="5143500"/>
                </a:lnTo>
                <a:lnTo>
                  <a:pt x="0" y="514350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0" id="10"/>
          <p:cNvSpPr/>
          <p:nvPr/>
        </p:nvSpPr>
        <p:spPr>
          <a:xfrm flipH="false" flipV="false" rot="-5400000">
            <a:off x="9947810" y="7981950"/>
            <a:ext cx="5143500" cy="5143500"/>
          </a:xfrm>
          <a:custGeom>
            <a:avLst/>
            <a:gdLst/>
            <a:ahLst/>
            <a:cxnLst/>
            <a:rect r="r" b="b" t="t" l="l"/>
            <a:pathLst>
              <a:path h="5143500" w="5143500">
                <a:moveTo>
                  <a:pt x="0" y="0"/>
                </a:moveTo>
                <a:lnTo>
                  <a:pt x="5143500" y="0"/>
                </a:lnTo>
                <a:lnTo>
                  <a:pt x="5143500" y="5143500"/>
                </a:lnTo>
                <a:lnTo>
                  <a:pt x="0" y="514350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1" id="11"/>
          <p:cNvSpPr/>
          <p:nvPr/>
        </p:nvSpPr>
        <p:spPr>
          <a:xfrm flipH="false" flipV="false" rot="0">
            <a:off x="216018" y="3532450"/>
            <a:ext cx="5947334" cy="3222100"/>
          </a:xfrm>
          <a:custGeom>
            <a:avLst/>
            <a:gdLst/>
            <a:ahLst/>
            <a:cxnLst/>
            <a:rect r="r" b="b" t="t" l="l"/>
            <a:pathLst>
              <a:path h="3222100" w="5947334">
                <a:moveTo>
                  <a:pt x="0" y="0"/>
                </a:moveTo>
                <a:lnTo>
                  <a:pt x="5947334" y="0"/>
                </a:lnTo>
                <a:lnTo>
                  <a:pt x="5947334" y="3222100"/>
                </a:lnTo>
                <a:lnTo>
                  <a:pt x="0" y="3222100"/>
                </a:lnTo>
                <a:lnTo>
                  <a:pt x="0" y="0"/>
                </a:lnTo>
                <a:close/>
              </a:path>
            </a:pathLst>
          </a:custGeom>
          <a:blipFill>
            <a:blip r:embed="rId7"/>
            <a:stretch>
              <a:fillRect l="0" t="0" r="0" b="0"/>
            </a:stretch>
          </a:blipFill>
        </p:spPr>
      </p:sp>
      <p:sp>
        <p:nvSpPr>
          <p:cNvPr name="Freeform 12" id="12"/>
          <p:cNvSpPr/>
          <p:nvPr/>
        </p:nvSpPr>
        <p:spPr>
          <a:xfrm flipH="false" flipV="false" rot="0">
            <a:off x="6170333" y="3532450"/>
            <a:ext cx="5947334" cy="3222100"/>
          </a:xfrm>
          <a:custGeom>
            <a:avLst/>
            <a:gdLst/>
            <a:ahLst/>
            <a:cxnLst/>
            <a:rect r="r" b="b" t="t" l="l"/>
            <a:pathLst>
              <a:path h="3222100" w="5947334">
                <a:moveTo>
                  <a:pt x="0" y="0"/>
                </a:moveTo>
                <a:lnTo>
                  <a:pt x="5947334" y="0"/>
                </a:lnTo>
                <a:lnTo>
                  <a:pt x="5947334" y="3222100"/>
                </a:lnTo>
                <a:lnTo>
                  <a:pt x="0" y="3222100"/>
                </a:lnTo>
                <a:lnTo>
                  <a:pt x="0" y="0"/>
                </a:lnTo>
                <a:close/>
              </a:path>
            </a:pathLst>
          </a:custGeom>
          <a:blipFill>
            <a:blip r:embed="rId8"/>
            <a:stretch>
              <a:fillRect l="0" t="0" r="0" b="0"/>
            </a:stretch>
          </a:blipFill>
        </p:spPr>
      </p:sp>
      <p:sp>
        <p:nvSpPr>
          <p:cNvPr name="Freeform 13" id="13"/>
          <p:cNvSpPr/>
          <p:nvPr/>
        </p:nvSpPr>
        <p:spPr>
          <a:xfrm flipH="false" flipV="false" rot="0">
            <a:off x="12096726" y="3532450"/>
            <a:ext cx="5947334" cy="3222100"/>
          </a:xfrm>
          <a:custGeom>
            <a:avLst/>
            <a:gdLst/>
            <a:ahLst/>
            <a:cxnLst/>
            <a:rect r="r" b="b" t="t" l="l"/>
            <a:pathLst>
              <a:path h="3222100" w="5947334">
                <a:moveTo>
                  <a:pt x="0" y="0"/>
                </a:moveTo>
                <a:lnTo>
                  <a:pt x="5947334" y="0"/>
                </a:lnTo>
                <a:lnTo>
                  <a:pt x="5947334" y="3222100"/>
                </a:lnTo>
                <a:lnTo>
                  <a:pt x="0" y="3222100"/>
                </a:lnTo>
                <a:lnTo>
                  <a:pt x="0" y="0"/>
                </a:lnTo>
                <a:close/>
              </a:path>
            </a:pathLst>
          </a:custGeom>
          <a:blipFill>
            <a:blip r:embed="rId9"/>
            <a:stretch>
              <a:fillRect l="0" t="0" r="0" b="0"/>
            </a:stretch>
          </a:blipFill>
        </p:spPr>
      </p:sp>
      <p:sp>
        <p:nvSpPr>
          <p:cNvPr name="TextBox 14" id="14"/>
          <p:cNvSpPr txBox="true"/>
          <p:nvPr/>
        </p:nvSpPr>
        <p:spPr>
          <a:xfrm rot="0">
            <a:off x="770243" y="506413"/>
            <a:ext cx="10775358" cy="606425"/>
          </a:xfrm>
          <a:prstGeom prst="rect">
            <a:avLst/>
          </a:prstGeom>
        </p:spPr>
        <p:txBody>
          <a:bodyPr anchor="t" rtlCol="false" tIns="0" lIns="0" bIns="0" rIns="0">
            <a:spAutoFit/>
          </a:bodyPr>
          <a:lstStyle/>
          <a:p>
            <a:pPr algn="l">
              <a:lnSpc>
                <a:spcPts val="4900"/>
              </a:lnSpc>
            </a:pPr>
            <a:r>
              <a:rPr lang="en-US" sz="3500" b="true">
                <a:solidFill>
                  <a:srgbClr val="F9F6FF"/>
                </a:solidFill>
                <a:latin typeface="Montserrat Bold"/>
                <a:ea typeface="Montserrat Bold"/>
                <a:cs typeface="Montserrat Bold"/>
                <a:sym typeface="Montserrat Bold"/>
              </a:rPr>
              <a:t>WORDCLOUD SENTIMEN </a:t>
            </a:r>
          </a:p>
        </p:txBody>
      </p:sp>
    </p:spTree>
  </p:cSld>
  <p:clrMapOvr>
    <a:masterClrMapping/>
  </p:clrMapOvr>
  <p:transition spd="fast">
    <p:fade/>
  </p:transition>
</p:sld>
</file>

<file path=ppt/slides/slide1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6250" t="0" r="-6250" b="0"/>
            </a:stretch>
          </a:blipFill>
        </p:spPr>
      </p:sp>
      <p:sp>
        <p:nvSpPr>
          <p:cNvPr name="Freeform 3" id="3"/>
          <p:cNvSpPr/>
          <p:nvPr/>
        </p:nvSpPr>
        <p:spPr>
          <a:xfrm flipH="false" flipV="false" rot="-5400000">
            <a:off x="-339190" y="7981950"/>
            <a:ext cx="5143500" cy="5143500"/>
          </a:xfrm>
          <a:custGeom>
            <a:avLst/>
            <a:gdLst/>
            <a:ahLst/>
            <a:cxnLst/>
            <a:rect r="r" b="b" t="t" l="l"/>
            <a:pathLst>
              <a:path h="5143500" w="5143500">
                <a:moveTo>
                  <a:pt x="0" y="0"/>
                </a:moveTo>
                <a:lnTo>
                  <a:pt x="5143500" y="0"/>
                </a:lnTo>
                <a:lnTo>
                  <a:pt x="5143500" y="5143500"/>
                </a:lnTo>
                <a:lnTo>
                  <a:pt x="0" y="514350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4" id="4"/>
          <p:cNvGrpSpPr/>
          <p:nvPr/>
        </p:nvGrpSpPr>
        <p:grpSpPr>
          <a:xfrm rot="0">
            <a:off x="0" y="0"/>
            <a:ext cx="11077620" cy="1695450"/>
            <a:chOff x="0" y="0"/>
            <a:chExt cx="2917562" cy="446538"/>
          </a:xfrm>
        </p:grpSpPr>
        <p:sp>
          <p:nvSpPr>
            <p:cNvPr name="Freeform 5" id="5"/>
            <p:cNvSpPr/>
            <p:nvPr/>
          </p:nvSpPr>
          <p:spPr>
            <a:xfrm flipH="false" flipV="false" rot="0">
              <a:off x="0" y="0"/>
              <a:ext cx="2917562" cy="446538"/>
            </a:xfrm>
            <a:custGeom>
              <a:avLst/>
              <a:gdLst/>
              <a:ahLst/>
              <a:cxnLst/>
              <a:rect r="r" b="b" t="t" l="l"/>
              <a:pathLst>
                <a:path h="446538" w="2917562">
                  <a:moveTo>
                    <a:pt x="0" y="0"/>
                  </a:moveTo>
                  <a:lnTo>
                    <a:pt x="2917562" y="0"/>
                  </a:lnTo>
                  <a:lnTo>
                    <a:pt x="2917562" y="446538"/>
                  </a:lnTo>
                  <a:lnTo>
                    <a:pt x="0" y="446538"/>
                  </a:lnTo>
                  <a:close/>
                </a:path>
              </a:pathLst>
            </a:custGeom>
            <a:solidFill>
              <a:srgbClr val="004AAD"/>
            </a:solidFill>
          </p:spPr>
        </p:sp>
        <p:sp>
          <p:nvSpPr>
            <p:cNvPr name="TextBox 6" id="6"/>
            <p:cNvSpPr txBox="true"/>
            <p:nvPr/>
          </p:nvSpPr>
          <p:spPr>
            <a:xfrm>
              <a:off x="0" y="-28575"/>
              <a:ext cx="2917562" cy="475113"/>
            </a:xfrm>
            <a:prstGeom prst="rect">
              <a:avLst/>
            </a:prstGeom>
          </p:spPr>
          <p:txBody>
            <a:bodyPr anchor="ctr" rtlCol="false" tIns="50800" lIns="50800" bIns="50800" rIns="50800"/>
            <a:lstStyle/>
            <a:p>
              <a:pPr algn="ctr">
                <a:lnSpc>
                  <a:spcPts val="2659"/>
                </a:lnSpc>
              </a:pPr>
            </a:p>
          </p:txBody>
        </p:sp>
      </p:grpSp>
      <p:sp>
        <p:nvSpPr>
          <p:cNvPr name="Freeform 7" id="7"/>
          <p:cNvSpPr/>
          <p:nvPr/>
        </p:nvSpPr>
        <p:spPr>
          <a:xfrm flipH="false" flipV="false" rot="0">
            <a:off x="13839676" y="632659"/>
            <a:ext cx="2656373" cy="396041"/>
          </a:xfrm>
          <a:custGeom>
            <a:avLst/>
            <a:gdLst/>
            <a:ahLst/>
            <a:cxnLst/>
            <a:rect r="r" b="b" t="t" l="l"/>
            <a:pathLst>
              <a:path h="396041" w="2656373">
                <a:moveTo>
                  <a:pt x="0" y="0"/>
                </a:moveTo>
                <a:lnTo>
                  <a:pt x="2656373" y="0"/>
                </a:lnTo>
                <a:lnTo>
                  <a:pt x="2656373" y="396041"/>
                </a:lnTo>
                <a:lnTo>
                  <a:pt x="0" y="396041"/>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8" id="8"/>
          <p:cNvSpPr/>
          <p:nvPr/>
        </p:nvSpPr>
        <p:spPr>
          <a:xfrm flipH="false" flipV="false" rot="-5400000">
            <a:off x="15091310" y="7981950"/>
            <a:ext cx="5143500" cy="5143500"/>
          </a:xfrm>
          <a:custGeom>
            <a:avLst/>
            <a:gdLst/>
            <a:ahLst/>
            <a:cxnLst/>
            <a:rect r="r" b="b" t="t" l="l"/>
            <a:pathLst>
              <a:path h="5143500" w="5143500">
                <a:moveTo>
                  <a:pt x="0" y="0"/>
                </a:moveTo>
                <a:lnTo>
                  <a:pt x="5143500" y="0"/>
                </a:lnTo>
                <a:lnTo>
                  <a:pt x="5143500" y="5143500"/>
                </a:lnTo>
                <a:lnTo>
                  <a:pt x="0" y="514350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9" id="9"/>
          <p:cNvSpPr/>
          <p:nvPr/>
        </p:nvSpPr>
        <p:spPr>
          <a:xfrm flipH="false" flipV="false" rot="-5400000">
            <a:off x="4804310" y="7981950"/>
            <a:ext cx="5143500" cy="5143500"/>
          </a:xfrm>
          <a:custGeom>
            <a:avLst/>
            <a:gdLst/>
            <a:ahLst/>
            <a:cxnLst/>
            <a:rect r="r" b="b" t="t" l="l"/>
            <a:pathLst>
              <a:path h="5143500" w="5143500">
                <a:moveTo>
                  <a:pt x="0" y="0"/>
                </a:moveTo>
                <a:lnTo>
                  <a:pt x="5143500" y="0"/>
                </a:lnTo>
                <a:lnTo>
                  <a:pt x="5143500" y="5143500"/>
                </a:lnTo>
                <a:lnTo>
                  <a:pt x="0" y="514350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0" id="10"/>
          <p:cNvSpPr/>
          <p:nvPr/>
        </p:nvSpPr>
        <p:spPr>
          <a:xfrm flipH="false" flipV="false" rot="-5400000">
            <a:off x="9947810" y="7981950"/>
            <a:ext cx="5143500" cy="5143500"/>
          </a:xfrm>
          <a:custGeom>
            <a:avLst/>
            <a:gdLst/>
            <a:ahLst/>
            <a:cxnLst/>
            <a:rect r="r" b="b" t="t" l="l"/>
            <a:pathLst>
              <a:path h="5143500" w="5143500">
                <a:moveTo>
                  <a:pt x="0" y="0"/>
                </a:moveTo>
                <a:lnTo>
                  <a:pt x="5143500" y="0"/>
                </a:lnTo>
                <a:lnTo>
                  <a:pt x="5143500" y="5143500"/>
                </a:lnTo>
                <a:lnTo>
                  <a:pt x="0" y="514350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1" id="11"/>
          <p:cNvSpPr/>
          <p:nvPr/>
        </p:nvSpPr>
        <p:spPr>
          <a:xfrm flipH="false" flipV="false" rot="0">
            <a:off x="2513120" y="3336585"/>
            <a:ext cx="13261760" cy="3613830"/>
          </a:xfrm>
          <a:custGeom>
            <a:avLst/>
            <a:gdLst/>
            <a:ahLst/>
            <a:cxnLst/>
            <a:rect r="r" b="b" t="t" l="l"/>
            <a:pathLst>
              <a:path h="3613830" w="13261760">
                <a:moveTo>
                  <a:pt x="0" y="0"/>
                </a:moveTo>
                <a:lnTo>
                  <a:pt x="13261760" y="0"/>
                </a:lnTo>
                <a:lnTo>
                  <a:pt x="13261760" y="3613830"/>
                </a:lnTo>
                <a:lnTo>
                  <a:pt x="0" y="3613830"/>
                </a:lnTo>
                <a:lnTo>
                  <a:pt x="0" y="0"/>
                </a:lnTo>
                <a:close/>
              </a:path>
            </a:pathLst>
          </a:custGeom>
          <a:blipFill>
            <a:blip r:embed="rId7"/>
            <a:stretch>
              <a:fillRect l="0" t="0" r="0" b="0"/>
            </a:stretch>
          </a:blipFill>
        </p:spPr>
      </p:sp>
      <p:sp>
        <p:nvSpPr>
          <p:cNvPr name="TextBox 12" id="12"/>
          <p:cNvSpPr txBox="true"/>
          <p:nvPr/>
        </p:nvSpPr>
        <p:spPr>
          <a:xfrm rot="0">
            <a:off x="282593" y="196850"/>
            <a:ext cx="10436168" cy="1225550"/>
          </a:xfrm>
          <a:prstGeom prst="rect">
            <a:avLst/>
          </a:prstGeom>
        </p:spPr>
        <p:txBody>
          <a:bodyPr anchor="t" rtlCol="false" tIns="0" lIns="0" bIns="0" rIns="0">
            <a:spAutoFit/>
          </a:bodyPr>
          <a:lstStyle/>
          <a:p>
            <a:pPr algn="ctr">
              <a:lnSpc>
                <a:spcPts val="4900"/>
              </a:lnSpc>
            </a:pPr>
            <a:r>
              <a:rPr lang="en-US" b="true" sz="3500">
                <a:solidFill>
                  <a:srgbClr val="F9F6FF"/>
                </a:solidFill>
                <a:latin typeface="Montserrat Bold"/>
                <a:ea typeface="Montserrat Bold"/>
                <a:cs typeface="Montserrat Bold"/>
                <a:sym typeface="Montserrat Bold"/>
              </a:rPr>
              <a:t>WORDCLOUD SENTIMEN SETIAP APLIKASI (SHOPEE)</a:t>
            </a:r>
          </a:p>
        </p:txBody>
      </p:sp>
    </p:spTree>
  </p:cSld>
  <p:clrMapOvr>
    <a:masterClrMapping/>
  </p:clrMapOvr>
  <p:transition spd="fast">
    <p:fade/>
  </p:transition>
</p:sld>
</file>

<file path=ppt/slides/slide1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6250" t="0" r="-6250" b="0"/>
            </a:stretch>
          </a:blipFill>
        </p:spPr>
      </p:sp>
      <p:sp>
        <p:nvSpPr>
          <p:cNvPr name="Freeform 3" id="3"/>
          <p:cNvSpPr/>
          <p:nvPr/>
        </p:nvSpPr>
        <p:spPr>
          <a:xfrm flipH="false" flipV="false" rot="-5400000">
            <a:off x="-339190" y="7981950"/>
            <a:ext cx="5143500" cy="5143500"/>
          </a:xfrm>
          <a:custGeom>
            <a:avLst/>
            <a:gdLst/>
            <a:ahLst/>
            <a:cxnLst/>
            <a:rect r="r" b="b" t="t" l="l"/>
            <a:pathLst>
              <a:path h="5143500" w="5143500">
                <a:moveTo>
                  <a:pt x="0" y="0"/>
                </a:moveTo>
                <a:lnTo>
                  <a:pt x="5143500" y="0"/>
                </a:lnTo>
                <a:lnTo>
                  <a:pt x="5143500" y="5143500"/>
                </a:lnTo>
                <a:lnTo>
                  <a:pt x="0" y="514350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4" id="4"/>
          <p:cNvGrpSpPr/>
          <p:nvPr/>
        </p:nvGrpSpPr>
        <p:grpSpPr>
          <a:xfrm rot="0">
            <a:off x="0" y="0"/>
            <a:ext cx="11162417" cy="1695450"/>
            <a:chOff x="0" y="0"/>
            <a:chExt cx="2939896" cy="446538"/>
          </a:xfrm>
        </p:grpSpPr>
        <p:sp>
          <p:nvSpPr>
            <p:cNvPr name="Freeform 5" id="5"/>
            <p:cNvSpPr/>
            <p:nvPr/>
          </p:nvSpPr>
          <p:spPr>
            <a:xfrm flipH="false" flipV="false" rot="0">
              <a:off x="0" y="0"/>
              <a:ext cx="2939896" cy="446538"/>
            </a:xfrm>
            <a:custGeom>
              <a:avLst/>
              <a:gdLst/>
              <a:ahLst/>
              <a:cxnLst/>
              <a:rect r="r" b="b" t="t" l="l"/>
              <a:pathLst>
                <a:path h="446538" w="2939896">
                  <a:moveTo>
                    <a:pt x="0" y="0"/>
                  </a:moveTo>
                  <a:lnTo>
                    <a:pt x="2939896" y="0"/>
                  </a:lnTo>
                  <a:lnTo>
                    <a:pt x="2939896" y="446538"/>
                  </a:lnTo>
                  <a:lnTo>
                    <a:pt x="0" y="446538"/>
                  </a:lnTo>
                  <a:close/>
                </a:path>
              </a:pathLst>
            </a:custGeom>
            <a:solidFill>
              <a:srgbClr val="004AAD"/>
            </a:solidFill>
          </p:spPr>
        </p:sp>
        <p:sp>
          <p:nvSpPr>
            <p:cNvPr name="TextBox 6" id="6"/>
            <p:cNvSpPr txBox="true"/>
            <p:nvPr/>
          </p:nvSpPr>
          <p:spPr>
            <a:xfrm>
              <a:off x="0" y="-28575"/>
              <a:ext cx="2939896" cy="475113"/>
            </a:xfrm>
            <a:prstGeom prst="rect">
              <a:avLst/>
            </a:prstGeom>
          </p:spPr>
          <p:txBody>
            <a:bodyPr anchor="ctr" rtlCol="false" tIns="50800" lIns="50800" bIns="50800" rIns="50800"/>
            <a:lstStyle/>
            <a:p>
              <a:pPr algn="ctr">
                <a:lnSpc>
                  <a:spcPts val="2659"/>
                </a:lnSpc>
              </a:pPr>
            </a:p>
          </p:txBody>
        </p:sp>
      </p:grpSp>
      <p:sp>
        <p:nvSpPr>
          <p:cNvPr name="Freeform 7" id="7"/>
          <p:cNvSpPr/>
          <p:nvPr/>
        </p:nvSpPr>
        <p:spPr>
          <a:xfrm flipH="false" flipV="false" rot="0">
            <a:off x="13839676" y="632659"/>
            <a:ext cx="2656373" cy="396041"/>
          </a:xfrm>
          <a:custGeom>
            <a:avLst/>
            <a:gdLst/>
            <a:ahLst/>
            <a:cxnLst/>
            <a:rect r="r" b="b" t="t" l="l"/>
            <a:pathLst>
              <a:path h="396041" w="2656373">
                <a:moveTo>
                  <a:pt x="0" y="0"/>
                </a:moveTo>
                <a:lnTo>
                  <a:pt x="2656373" y="0"/>
                </a:lnTo>
                <a:lnTo>
                  <a:pt x="2656373" y="396041"/>
                </a:lnTo>
                <a:lnTo>
                  <a:pt x="0" y="396041"/>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8" id="8"/>
          <p:cNvSpPr/>
          <p:nvPr/>
        </p:nvSpPr>
        <p:spPr>
          <a:xfrm flipH="false" flipV="false" rot="-5400000">
            <a:off x="15091310" y="7981950"/>
            <a:ext cx="5143500" cy="5143500"/>
          </a:xfrm>
          <a:custGeom>
            <a:avLst/>
            <a:gdLst/>
            <a:ahLst/>
            <a:cxnLst/>
            <a:rect r="r" b="b" t="t" l="l"/>
            <a:pathLst>
              <a:path h="5143500" w="5143500">
                <a:moveTo>
                  <a:pt x="0" y="0"/>
                </a:moveTo>
                <a:lnTo>
                  <a:pt x="5143500" y="0"/>
                </a:lnTo>
                <a:lnTo>
                  <a:pt x="5143500" y="5143500"/>
                </a:lnTo>
                <a:lnTo>
                  <a:pt x="0" y="514350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9" id="9"/>
          <p:cNvSpPr/>
          <p:nvPr/>
        </p:nvSpPr>
        <p:spPr>
          <a:xfrm flipH="false" flipV="false" rot="-5400000">
            <a:off x="4804310" y="7981950"/>
            <a:ext cx="5143500" cy="5143500"/>
          </a:xfrm>
          <a:custGeom>
            <a:avLst/>
            <a:gdLst/>
            <a:ahLst/>
            <a:cxnLst/>
            <a:rect r="r" b="b" t="t" l="l"/>
            <a:pathLst>
              <a:path h="5143500" w="5143500">
                <a:moveTo>
                  <a:pt x="0" y="0"/>
                </a:moveTo>
                <a:lnTo>
                  <a:pt x="5143500" y="0"/>
                </a:lnTo>
                <a:lnTo>
                  <a:pt x="5143500" y="5143500"/>
                </a:lnTo>
                <a:lnTo>
                  <a:pt x="0" y="514350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0" id="10"/>
          <p:cNvSpPr/>
          <p:nvPr/>
        </p:nvSpPr>
        <p:spPr>
          <a:xfrm flipH="false" flipV="false" rot="-5400000">
            <a:off x="9947810" y="7981950"/>
            <a:ext cx="5143500" cy="5143500"/>
          </a:xfrm>
          <a:custGeom>
            <a:avLst/>
            <a:gdLst/>
            <a:ahLst/>
            <a:cxnLst/>
            <a:rect r="r" b="b" t="t" l="l"/>
            <a:pathLst>
              <a:path h="5143500" w="5143500">
                <a:moveTo>
                  <a:pt x="0" y="0"/>
                </a:moveTo>
                <a:lnTo>
                  <a:pt x="5143500" y="0"/>
                </a:lnTo>
                <a:lnTo>
                  <a:pt x="5143500" y="5143500"/>
                </a:lnTo>
                <a:lnTo>
                  <a:pt x="0" y="514350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1" id="11"/>
          <p:cNvSpPr/>
          <p:nvPr/>
        </p:nvSpPr>
        <p:spPr>
          <a:xfrm flipH="false" flipV="false" rot="0">
            <a:off x="2682513" y="3382745"/>
            <a:ext cx="12922975" cy="3521511"/>
          </a:xfrm>
          <a:custGeom>
            <a:avLst/>
            <a:gdLst/>
            <a:ahLst/>
            <a:cxnLst/>
            <a:rect r="r" b="b" t="t" l="l"/>
            <a:pathLst>
              <a:path h="3521511" w="12922975">
                <a:moveTo>
                  <a:pt x="0" y="0"/>
                </a:moveTo>
                <a:lnTo>
                  <a:pt x="12922974" y="0"/>
                </a:lnTo>
                <a:lnTo>
                  <a:pt x="12922974" y="3521510"/>
                </a:lnTo>
                <a:lnTo>
                  <a:pt x="0" y="3521510"/>
                </a:lnTo>
                <a:lnTo>
                  <a:pt x="0" y="0"/>
                </a:lnTo>
                <a:close/>
              </a:path>
            </a:pathLst>
          </a:custGeom>
          <a:blipFill>
            <a:blip r:embed="rId7"/>
            <a:stretch>
              <a:fillRect l="0" t="0" r="0" b="0"/>
            </a:stretch>
          </a:blipFill>
        </p:spPr>
      </p:sp>
      <p:sp>
        <p:nvSpPr>
          <p:cNvPr name="TextBox 12" id="12"/>
          <p:cNvSpPr txBox="true"/>
          <p:nvPr/>
        </p:nvSpPr>
        <p:spPr>
          <a:xfrm rot="0">
            <a:off x="-763243" y="196850"/>
            <a:ext cx="12584372" cy="1225550"/>
          </a:xfrm>
          <a:prstGeom prst="rect">
            <a:avLst/>
          </a:prstGeom>
        </p:spPr>
        <p:txBody>
          <a:bodyPr anchor="t" rtlCol="false" tIns="0" lIns="0" bIns="0" rIns="0">
            <a:spAutoFit/>
          </a:bodyPr>
          <a:lstStyle/>
          <a:p>
            <a:pPr algn="ctr">
              <a:lnSpc>
                <a:spcPts val="4900"/>
              </a:lnSpc>
            </a:pPr>
            <a:r>
              <a:rPr lang="en-US" b="true" sz="3500">
                <a:solidFill>
                  <a:srgbClr val="F9F6FF"/>
                </a:solidFill>
                <a:latin typeface="Montserrat Bold"/>
                <a:ea typeface="Montserrat Bold"/>
                <a:cs typeface="Montserrat Bold"/>
                <a:sym typeface="Montserrat Bold"/>
              </a:rPr>
              <a:t>WORDCLOUD SENTIMEN SETIAP APLIKASI (TOKOPEDIA)</a:t>
            </a:r>
          </a:p>
        </p:txBody>
      </p:sp>
    </p:spTree>
  </p:cSld>
  <p:clrMapOvr>
    <a:masterClrMapping/>
  </p:clrMapOvr>
  <p:transition spd="fast">
    <p:fade/>
  </p:transition>
</p:sld>
</file>

<file path=ppt/slides/slide1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6250" t="0" r="-6250" b="0"/>
            </a:stretch>
          </a:blipFill>
        </p:spPr>
      </p:sp>
      <p:sp>
        <p:nvSpPr>
          <p:cNvPr name="Freeform 3" id="3"/>
          <p:cNvSpPr/>
          <p:nvPr/>
        </p:nvSpPr>
        <p:spPr>
          <a:xfrm flipH="false" flipV="false" rot="-5400000">
            <a:off x="-339190" y="7981950"/>
            <a:ext cx="5143500" cy="5143500"/>
          </a:xfrm>
          <a:custGeom>
            <a:avLst/>
            <a:gdLst/>
            <a:ahLst/>
            <a:cxnLst/>
            <a:rect r="r" b="b" t="t" l="l"/>
            <a:pathLst>
              <a:path h="5143500" w="5143500">
                <a:moveTo>
                  <a:pt x="0" y="0"/>
                </a:moveTo>
                <a:lnTo>
                  <a:pt x="5143500" y="0"/>
                </a:lnTo>
                <a:lnTo>
                  <a:pt x="5143500" y="5143500"/>
                </a:lnTo>
                <a:lnTo>
                  <a:pt x="0" y="514350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4" id="4"/>
          <p:cNvGrpSpPr/>
          <p:nvPr/>
        </p:nvGrpSpPr>
        <p:grpSpPr>
          <a:xfrm rot="0">
            <a:off x="0" y="0"/>
            <a:ext cx="11162417" cy="1695450"/>
            <a:chOff x="0" y="0"/>
            <a:chExt cx="2939896" cy="446538"/>
          </a:xfrm>
        </p:grpSpPr>
        <p:sp>
          <p:nvSpPr>
            <p:cNvPr name="Freeform 5" id="5"/>
            <p:cNvSpPr/>
            <p:nvPr/>
          </p:nvSpPr>
          <p:spPr>
            <a:xfrm flipH="false" flipV="false" rot="0">
              <a:off x="0" y="0"/>
              <a:ext cx="2939896" cy="446538"/>
            </a:xfrm>
            <a:custGeom>
              <a:avLst/>
              <a:gdLst/>
              <a:ahLst/>
              <a:cxnLst/>
              <a:rect r="r" b="b" t="t" l="l"/>
              <a:pathLst>
                <a:path h="446538" w="2939896">
                  <a:moveTo>
                    <a:pt x="0" y="0"/>
                  </a:moveTo>
                  <a:lnTo>
                    <a:pt x="2939896" y="0"/>
                  </a:lnTo>
                  <a:lnTo>
                    <a:pt x="2939896" y="446538"/>
                  </a:lnTo>
                  <a:lnTo>
                    <a:pt x="0" y="446538"/>
                  </a:lnTo>
                  <a:close/>
                </a:path>
              </a:pathLst>
            </a:custGeom>
            <a:solidFill>
              <a:srgbClr val="004AAD"/>
            </a:solidFill>
          </p:spPr>
        </p:sp>
        <p:sp>
          <p:nvSpPr>
            <p:cNvPr name="TextBox 6" id="6"/>
            <p:cNvSpPr txBox="true"/>
            <p:nvPr/>
          </p:nvSpPr>
          <p:spPr>
            <a:xfrm>
              <a:off x="0" y="-28575"/>
              <a:ext cx="2939896" cy="475113"/>
            </a:xfrm>
            <a:prstGeom prst="rect">
              <a:avLst/>
            </a:prstGeom>
          </p:spPr>
          <p:txBody>
            <a:bodyPr anchor="ctr" rtlCol="false" tIns="50800" lIns="50800" bIns="50800" rIns="50800"/>
            <a:lstStyle/>
            <a:p>
              <a:pPr algn="ctr">
                <a:lnSpc>
                  <a:spcPts val="2659"/>
                </a:lnSpc>
              </a:pPr>
            </a:p>
          </p:txBody>
        </p:sp>
      </p:grpSp>
      <p:sp>
        <p:nvSpPr>
          <p:cNvPr name="Freeform 7" id="7"/>
          <p:cNvSpPr/>
          <p:nvPr/>
        </p:nvSpPr>
        <p:spPr>
          <a:xfrm flipH="false" flipV="false" rot="0">
            <a:off x="13839676" y="632659"/>
            <a:ext cx="2656373" cy="396041"/>
          </a:xfrm>
          <a:custGeom>
            <a:avLst/>
            <a:gdLst/>
            <a:ahLst/>
            <a:cxnLst/>
            <a:rect r="r" b="b" t="t" l="l"/>
            <a:pathLst>
              <a:path h="396041" w="2656373">
                <a:moveTo>
                  <a:pt x="0" y="0"/>
                </a:moveTo>
                <a:lnTo>
                  <a:pt x="2656373" y="0"/>
                </a:lnTo>
                <a:lnTo>
                  <a:pt x="2656373" y="396041"/>
                </a:lnTo>
                <a:lnTo>
                  <a:pt x="0" y="396041"/>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8" id="8"/>
          <p:cNvSpPr/>
          <p:nvPr/>
        </p:nvSpPr>
        <p:spPr>
          <a:xfrm flipH="false" flipV="false" rot="-5400000">
            <a:off x="15091310" y="7981950"/>
            <a:ext cx="5143500" cy="5143500"/>
          </a:xfrm>
          <a:custGeom>
            <a:avLst/>
            <a:gdLst/>
            <a:ahLst/>
            <a:cxnLst/>
            <a:rect r="r" b="b" t="t" l="l"/>
            <a:pathLst>
              <a:path h="5143500" w="5143500">
                <a:moveTo>
                  <a:pt x="0" y="0"/>
                </a:moveTo>
                <a:lnTo>
                  <a:pt x="5143500" y="0"/>
                </a:lnTo>
                <a:lnTo>
                  <a:pt x="5143500" y="5143500"/>
                </a:lnTo>
                <a:lnTo>
                  <a:pt x="0" y="514350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9" id="9"/>
          <p:cNvSpPr/>
          <p:nvPr/>
        </p:nvSpPr>
        <p:spPr>
          <a:xfrm flipH="false" flipV="false" rot="-5400000">
            <a:off x="4804310" y="7981950"/>
            <a:ext cx="5143500" cy="5143500"/>
          </a:xfrm>
          <a:custGeom>
            <a:avLst/>
            <a:gdLst/>
            <a:ahLst/>
            <a:cxnLst/>
            <a:rect r="r" b="b" t="t" l="l"/>
            <a:pathLst>
              <a:path h="5143500" w="5143500">
                <a:moveTo>
                  <a:pt x="0" y="0"/>
                </a:moveTo>
                <a:lnTo>
                  <a:pt x="5143500" y="0"/>
                </a:lnTo>
                <a:lnTo>
                  <a:pt x="5143500" y="5143500"/>
                </a:lnTo>
                <a:lnTo>
                  <a:pt x="0" y="514350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0" id="10"/>
          <p:cNvSpPr/>
          <p:nvPr/>
        </p:nvSpPr>
        <p:spPr>
          <a:xfrm flipH="false" flipV="false" rot="-5400000">
            <a:off x="9947810" y="7981950"/>
            <a:ext cx="5143500" cy="5143500"/>
          </a:xfrm>
          <a:custGeom>
            <a:avLst/>
            <a:gdLst/>
            <a:ahLst/>
            <a:cxnLst/>
            <a:rect r="r" b="b" t="t" l="l"/>
            <a:pathLst>
              <a:path h="5143500" w="5143500">
                <a:moveTo>
                  <a:pt x="0" y="0"/>
                </a:moveTo>
                <a:lnTo>
                  <a:pt x="5143500" y="0"/>
                </a:lnTo>
                <a:lnTo>
                  <a:pt x="5143500" y="5143500"/>
                </a:lnTo>
                <a:lnTo>
                  <a:pt x="0" y="514350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1" id="11"/>
          <p:cNvSpPr/>
          <p:nvPr/>
        </p:nvSpPr>
        <p:spPr>
          <a:xfrm flipH="false" flipV="false" rot="0">
            <a:off x="2658842" y="3376295"/>
            <a:ext cx="12970316" cy="3534411"/>
          </a:xfrm>
          <a:custGeom>
            <a:avLst/>
            <a:gdLst/>
            <a:ahLst/>
            <a:cxnLst/>
            <a:rect r="r" b="b" t="t" l="l"/>
            <a:pathLst>
              <a:path h="3534411" w="12970316">
                <a:moveTo>
                  <a:pt x="0" y="0"/>
                </a:moveTo>
                <a:lnTo>
                  <a:pt x="12970316" y="0"/>
                </a:lnTo>
                <a:lnTo>
                  <a:pt x="12970316" y="3534410"/>
                </a:lnTo>
                <a:lnTo>
                  <a:pt x="0" y="3534410"/>
                </a:lnTo>
                <a:lnTo>
                  <a:pt x="0" y="0"/>
                </a:lnTo>
                <a:close/>
              </a:path>
            </a:pathLst>
          </a:custGeom>
          <a:blipFill>
            <a:blip r:embed="rId7"/>
            <a:stretch>
              <a:fillRect l="0" t="0" r="0" b="0"/>
            </a:stretch>
          </a:blipFill>
        </p:spPr>
      </p:sp>
      <p:sp>
        <p:nvSpPr>
          <p:cNvPr name="TextBox 12" id="12"/>
          <p:cNvSpPr txBox="true"/>
          <p:nvPr/>
        </p:nvSpPr>
        <p:spPr>
          <a:xfrm rot="0">
            <a:off x="-763243" y="196850"/>
            <a:ext cx="12584372" cy="1225550"/>
          </a:xfrm>
          <a:prstGeom prst="rect">
            <a:avLst/>
          </a:prstGeom>
        </p:spPr>
        <p:txBody>
          <a:bodyPr anchor="t" rtlCol="false" tIns="0" lIns="0" bIns="0" rIns="0">
            <a:spAutoFit/>
          </a:bodyPr>
          <a:lstStyle/>
          <a:p>
            <a:pPr algn="ctr">
              <a:lnSpc>
                <a:spcPts val="4900"/>
              </a:lnSpc>
            </a:pPr>
            <a:r>
              <a:rPr lang="en-US" b="true" sz="3500">
                <a:solidFill>
                  <a:srgbClr val="F9F6FF"/>
                </a:solidFill>
                <a:latin typeface="Montserrat Bold"/>
                <a:ea typeface="Montserrat Bold"/>
                <a:cs typeface="Montserrat Bold"/>
                <a:sym typeface="Montserrat Bold"/>
              </a:rPr>
              <a:t>WORDCLOUD SENTIMEN SETIAP APLIKASI</a:t>
            </a:r>
          </a:p>
          <a:p>
            <a:pPr algn="ctr">
              <a:lnSpc>
                <a:spcPts val="4900"/>
              </a:lnSpc>
            </a:pPr>
            <a:r>
              <a:rPr lang="en-US" b="true" sz="3500">
                <a:solidFill>
                  <a:srgbClr val="F9F6FF"/>
                </a:solidFill>
                <a:latin typeface="Montserrat Bold"/>
                <a:ea typeface="Montserrat Bold"/>
                <a:cs typeface="Montserrat Bold"/>
                <a:sym typeface="Montserrat Bold"/>
              </a:rPr>
              <a:t> (LAZADA)</a:t>
            </a:r>
          </a:p>
        </p:txBody>
      </p:sp>
    </p:spTree>
  </p:cSld>
  <p:clrMapOvr>
    <a:masterClrMapping/>
  </p:clrMapOvr>
  <p:transition spd="fast">
    <p:fade/>
  </p:transition>
</p:sld>
</file>

<file path=ppt/slides/slide1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6250" t="0" r="-6250" b="0"/>
            </a:stretch>
          </a:blipFill>
        </p:spPr>
      </p:sp>
      <p:grpSp>
        <p:nvGrpSpPr>
          <p:cNvPr name="Group 3" id="3"/>
          <p:cNvGrpSpPr/>
          <p:nvPr/>
        </p:nvGrpSpPr>
        <p:grpSpPr>
          <a:xfrm rot="0">
            <a:off x="0" y="0"/>
            <a:ext cx="12075033" cy="1695450"/>
            <a:chOff x="0" y="0"/>
            <a:chExt cx="3180255" cy="446538"/>
          </a:xfrm>
        </p:grpSpPr>
        <p:sp>
          <p:nvSpPr>
            <p:cNvPr name="Freeform 4" id="4"/>
            <p:cNvSpPr/>
            <p:nvPr/>
          </p:nvSpPr>
          <p:spPr>
            <a:xfrm flipH="false" flipV="false" rot="0">
              <a:off x="0" y="0"/>
              <a:ext cx="3180255" cy="446538"/>
            </a:xfrm>
            <a:custGeom>
              <a:avLst/>
              <a:gdLst/>
              <a:ahLst/>
              <a:cxnLst/>
              <a:rect r="r" b="b" t="t" l="l"/>
              <a:pathLst>
                <a:path h="446538" w="3180255">
                  <a:moveTo>
                    <a:pt x="0" y="0"/>
                  </a:moveTo>
                  <a:lnTo>
                    <a:pt x="3180255" y="0"/>
                  </a:lnTo>
                  <a:lnTo>
                    <a:pt x="3180255" y="446538"/>
                  </a:lnTo>
                  <a:lnTo>
                    <a:pt x="0" y="446538"/>
                  </a:lnTo>
                  <a:close/>
                </a:path>
              </a:pathLst>
            </a:custGeom>
            <a:solidFill>
              <a:srgbClr val="004AAD"/>
            </a:solidFill>
          </p:spPr>
        </p:sp>
        <p:sp>
          <p:nvSpPr>
            <p:cNvPr name="TextBox 5" id="5"/>
            <p:cNvSpPr txBox="true"/>
            <p:nvPr/>
          </p:nvSpPr>
          <p:spPr>
            <a:xfrm>
              <a:off x="0" y="-28575"/>
              <a:ext cx="3180255" cy="475113"/>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10800000">
            <a:off x="13924299" y="5114925"/>
            <a:ext cx="5143500" cy="5143500"/>
          </a:xfrm>
          <a:custGeom>
            <a:avLst/>
            <a:gdLst/>
            <a:ahLst/>
            <a:cxnLst/>
            <a:rect r="r" b="b" t="t" l="l"/>
            <a:pathLst>
              <a:path h="5143500" w="5143500">
                <a:moveTo>
                  <a:pt x="0" y="0"/>
                </a:moveTo>
                <a:lnTo>
                  <a:pt x="5143500" y="0"/>
                </a:lnTo>
                <a:lnTo>
                  <a:pt x="5143500" y="5143500"/>
                </a:lnTo>
                <a:lnTo>
                  <a:pt x="0" y="514350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7" id="7"/>
          <p:cNvSpPr/>
          <p:nvPr/>
        </p:nvSpPr>
        <p:spPr>
          <a:xfrm flipH="false" flipV="false" rot="-10800000">
            <a:off x="13924299" y="0"/>
            <a:ext cx="5143500" cy="5143500"/>
          </a:xfrm>
          <a:custGeom>
            <a:avLst/>
            <a:gdLst/>
            <a:ahLst/>
            <a:cxnLst/>
            <a:rect r="r" b="b" t="t" l="l"/>
            <a:pathLst>
              <a:path h="5143500" w="5143500">
                <a:moveTo>
                  <a:pt x="0" y="0"/>
                </a:moveTo>
                <a:lnTo>
                  <a:pt x="5143500" y="0"/>
                </a:lnTo>
                <a:lnTo>
                  <a:pt x="5143500" y="5143500"/>
                </a:lnTo>
                <a:lnTo>
                  <a:pt x="0" y="514350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8" id="8"/>
          <p:cNvSpPr/>
          <p:nvPr/>
        </p:nvSpPr>
        <p:spPr>
          <a:xfrm flipH="false" flipV="false" rot="0">
            <a:off x="1028700" y="4620616"/>
            <a:ext cx="11301259" cy="2839441"/>
          </a:xfrm>
          <a:custGeom>
            <a:avLst/>
            <a:gdLst/>
            <a:ahLst/>
            <a:cxnLst/>
            <a:rect r="r" b="b" t="t" l="l"/>
            <a:pathLst>
              <a:path h="2839441" w="11301259">
                <a:moveTo>
                  <a:pt x="0" y="0"/>
                </a:moveTo>
                <a:lnTo>
                  <a:pt x="11301259" y="0"/>
                </a:lnTo>
                <a:lnTo>
                  <a:pt x="11301259" y="2839442"/>
                </a:lnTo>
                <a:lnTo>
                  <a:pt x="0" y="2839442"/>
                </a:lnTo>
                <a:lnTo>
                  <a:pt x="0" y="0"/>
                </a:lnTo>
                <a:close/>
              </a:path>
            </a:pathLst>
          </a:custGeom>
          <a:blipFill>
            <a:blip r:embed="rId5"/>
            <a:stretch>
              <a:fillRect l="0" t="0" r="0" b="0"/>
            </a:stretch>
          </a:blipFill>
        </p:spPr>
      </p:sp>
      <p:sp>
        <p:nvSpPr>
          <p:cNvPr name="Freeform 9" id="9"/>
          <p:cNvSpPr/>
          <p:nvPr/>
        </p:nvSpPr>
        <p:spPr>
          <a:xfrm flipH="false" flipV="false" rot="0">
            <a:off x="1028700" y="1771650"/>
            <a:ext cx="11301259" cy="2839441"/>
          </a:xfrm>
          <a:custGeom>
            <a:avLst/>
            <a:gdLst/>
            <a:ahLst/>
            <a:cxnLst/>
            <a:rect r="r" b="b" t="t" l="l"/>
            <a:pathLst>
              <a:path h="2839441" w="11301259">
                <a:moveTo>
                  <a:pt x="0" y="0"/>
                </a:moveTo>
                <a:lnTo>
                  <a:pt x="11301259" y="0"/>
                </a:lnTo>
                <a:lnTo>
                  <a:pt x="11301259" y="2839441"/>
                </a:lnTo>
                <a:lnTo>
                  <a:pt x="0" y="2839441"/>
                </a:lnTo>
                <a:lnTo>
                  <a:pt x="0" y="0"/>
                </a:lnTo>
                <a:close/>
              </a:path>
            </a:pathLst>
          </a:custGeom>
          <a:blipFill>
            <a:blip r:embed="rId6"/>
            <a:stretch>
              <a:fillRect l="0" t="0" r="0" b="0"/>
            </a:stretch>
          </a:blipFill>
        </p:spPr>
      </p:sp>
      <p:sp>
        <p:nvSpPr>
          <p:cNvPr name="Freeform 10" id="10"/>
          <p:cNvSpPr/>
          <p:nvPr/>
        </p:nvSpPr>
        <p:spPr>
          <a:xfrm flipH="false" flipV="false" rot="0">
            <a:off x="1028700" y="7469583"/>
            <a:ext cx="11301259" cy="2839441"/>
          </a:xfrm>
          <a:custGeom>
            <a:avLst/>
            <a:gdLst/>
            <a:ahLst/>
            <a:cxnLst/>
            <a:rect r="r" b="b" t="t" l="l"/>
            <a:pathLst>
              <a:path h="2839441" w="11301259">
                <a:moveTo>
                  <a:pt x="0" y="0"/>
                </a:moveTo>
                <a:lnTo>
                  <a:pt x="11301259" y="0"/>
                </a:lnTo>
                <a:lnTo>
                  <a:pt x="11301259" y="2839441"/>
                </a:lnTo>
                <a:lnTo>
                  <a:pt x="0" y="2839441"/>
                </a:lnTo>
                <a:lnTo>
                  <a:pt x="0" y="0"/>
                </a:lnTo>
                <a:close/>
              </a:path>
            </a:pathLst>
          </a:custGeom>
          <a:blipFill>
            <a:blip r:embed="rId7"/>
            <a:stretch>
              <a:fillRect l="0" t="0" r="0" b="0"/>
            </a:stretch>
          </a:blipFill>
        </p:spPr>
      </p:sp>
      <p:sp>
        <p:nvSpPr>
          <p:cNvPr name="TextBox 11" id="11"/>
          <p:cNvSpPr txBox="true"/>
          <p:nvPr/>
        </p:nvSpPr>
        <p:spPr>
          <a:xfrm rot="0">
            <a:off x="-386498" y="196850"/>
            <a:ext cx="12584372" cy="1225550"/>
          </a:xfrm>
          <a:prstGeom prst="rect">
            <a:avLst/>
          </a:prstGeom>
        </p:spPr>
        <p:txBody>
          <a:bodyPr anchor="t" rtlCol="false" tIns="0" lIns="0" bIns="0" rIns="0">
            <a:spAutoFit/>
          </a:bodyPr>
          <a:lstStyle/>
          <a:p>
            <a:pPr algn="ctr">
              <a:lnSpc>
                <a:spcPts val="4900"/>
              </a:lnSpc>
            </a:pPr>
            <a:r>
              <a:rPr lang="en-US" b="true" sz="3500">
                <a:solidFill>
                  <a:srgbClr val="F9F6FF"/>
                </a:solidFill>
                <a:latin typeface="Montserrat Bold"/>
                <a:ea typeface="Montserrat Bold"/>
                <a:cs typeface="Montserrat Bold"/>
                <a:sym typeface="Montserrat Bold"/>
              </a:rPr>
              <a:t>N-GRAM SENTIMEN MASING-MASING APLIKASI</a:t>
            </a:r>
          </a:p>
          <a:p>
            <a:pPr algn="ctr">
              <a:lnSpc>
                <a:spcPts val="4900"/>
              </a:lnSpc>
            </a:pPr>
            <a:r>
              <a:rPr lang="en-US" b="true" sz="3500">
                <a:solidFill>
                  <a:srgbClr val="F9F6FF"/>
                </a:solidFill>
                <a:latin typeface="Montserrat Bold"/>
                <a:ea typeface="Montserrat Bold"/>
                <a:cs typeface="Montserrat Bold"/>
                <a:sym typeface="Montserrat Bold"/>
              </a:rPr>
              <a:t>(SHOPEE) </a:t>
            </a:r>
          </a:p>
        </p:txBody>
      </p:sp>
    </p:spTree>
  </p:cSld>
  <p:clrMapOvr>
    <a:masterClrMapping/>
  </p:clrMapOvr>
  <p:transition spd="fast">
    <p:fade/>
  </p:transition>
</p:sld>
</file>

<file path=ppt/slides/slide1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6250" t="0" r="-6250" b="0"/>
            </a:stretch>
          </a:blipFill>
        </p:spPr>
      </p:sp>
      <p:grpSp>
        <p:nvGrpSpPr>
          <p:cNvPr name="Group 3" id="3"/>
          <p:cNvGrpSpPr/>
          <p:nvPr/>
        </p:nvGrpSpPr>
        <p:grpSpPr>
          <a:xfrm rot="0">
            <a:off x="0" y="0"/>
            <a:ext cx="12075033" cy="1695450"/>
            <a:chOff x="0" y="0"/>
            <a:chExt cx="3180255" cy="446538"/>
          </a:xfrm>
        </p:grpSpPr>
        <p:sp>
          <p:nvSpPr>
            <p:cNvPr name="Freeform 4" id="4"/>
            <p:cNvSpPr/>
            <p:nvPr/>
          </p:nvSpPr>
          <p:spPr>
            <a:xfrm flipH="false" flipV="false" rot="0">
              <a:off x="0" y="0"/>
              <a:ext cx="3180255" cy="446538"/>
            </a:xfrm>
            <a:custGeom>
              <a:avLst/>
              <a:gdLst/>
              <a:ahLst/>
              <a:cxnLst/>
              <a:rect r="r" b="b" t="t" l="l"/>
              <a:pathLst>
                <a:path h="446538" w="3180255">
                  <a:moveTo>
                    <a:pt x="0" y="0"/>
                  </a:moveTo>
                  <a:lnTo>
                    <a:pt x="3180255" y="0"/>
                  </a:lnTo>
                  <a:lnTo>
                    <a:pt x="3180255" y="446538"/>
                  </a:lnTo>
                  <a:lnTo>
                    <a:pt x="0" y="446538"/>
                  </a:lnTo>
                  <a:close/>
                </a:path>
              </a:pathLst>
            </a:custGeom>
            <a:solidFill>
              <a:srgbClr val="004AAD"/>
            </a:solidFill>
          </p:spPr>
        </p:sp>
        <p:sp>
          <p:nvSpPr>
            <p:cNvPr name="TextBox 5" id="5"/>
            <p:cNvSpPr txBox="true"/>
            <p:nvPr/>
          </p:nvSpPr>
          <p:spPr>
            <a:xfrm>
              <a:off x="0" y="-28575"/>
              <a:ext cx="3180255" cy="475113"/>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10800000">
            <a:off x="13924299" y="5114925"/>
            <a:ext cx="5143500" cy="5143500"/>
          </a:xfrm>
          <a:custGeom>
            <a:avLst/>
            <a:gdLst/>
            <a:ahLst/>
            <a:cxnLst/>
            <a:rect r="r" b="b" t="t" l="l"/>
            <a:pathLst>
              <a:path h="5143500" w="5143500">
                <a:moveTo>
                  <a:pt x="0" y="0"/>
                </a:moveTo>
                <a:lnTo>
                  <a:pt x="5143500" y="0"/>
                </a:lnTo>
                <a:lnTo>
                  <a:pt x="5143500" y="5143500"/>
                </a:lnTo>
                <a:lnTo>
                  <a:pt x="0" y="514350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7" id="7"/>
          <p:cNvSpPr/>
          <p:nvPr/>
        </p:nvSpPr>
        <p:spPr>
          <a:xfrm flipH="false" flipV="false" rot="-10800000">
            <a:off x="13924299" y="0"/>
            <a:ext cx="5143500" cy="5143500"/>
          </a:xfrm>
          <a:custGeom>
            <a:avLst/>
            <a:gdLst/>
            <a:ahLst/>
            <a:cxnLst/>
            <a:rect r="r" b="b" t="t" l="l"/>
            <a:pathLst>
              <a:path h="5143500" w="5143500">
                <a:moveTo>
                  <a:pt x="0" y="0"/>
                </a:moveTo>
                <a:lnTo>
                  <a:pt x="5143500" y="0"/>
                </a:lnTo>
                <a:lnTo>
                  <a:pt x="5143500" y="5143500"/>
                </a:lnTo>
                <a:lnTo>
                  <a:pt x="0" y="514350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8" id="8"/>
          <p:cNvSpPr/>
          <p:nvPr/>
        </p:nvSpPr>
        <p:spPr>
          <a:xfrm flipH="false" flipV="false" rot="0">
            <a:off x="1028700" y="1752600"/>
            <a:ext cx="11301259" cy="2839441"/>
          </a:xfrm>
          <a:custGeom>
            <a:avLst/>
            <a:gdLst/>
            <a:ahLst/>
            <a:cxnLst/>
            <a:rect r="r" b="b" t="t" l="l"/>
            <a:pathLst>
              <a:path h="2839441" w="11301259">
                <a:moveTo>
                  <a:pt x="0" y="0"/>
                </a:moveTo>
                <a:lnTo>
                  <a:pt x="11301259" y="0"/>
                </a:lnTo>
                <a:lnTo>
                  <a:pt x="11301259" y="2839441"/>
                </a:lnTo>
                <a:lnTo>
                  <a:pt x="0" y="2839441"/>
                </a:lnTo>
                <a:lnTo>
                  <a:pt x="0" y="0"/>
                </a:lnTo>
                <a:close/>
              </a:path>
            </a:pathLst>
          </a:custGeom>
          <a:blipFill>
            <a:blip r:embed="rId5"/>
            <a:stretch>
              <a:fillRect l="0" t="0" r="0" b="0"/>
            </a:stretch>
          </a:blipFill>
        </p:spPr>
      </p:sp>
      <p:sp>
        <p:nvSpPr>
          <p:cNvPr name="Freeform 9" id="9"/>
          <p:cNvSpPr/>
          <p:nvPr/>
        </p:nvSpPr>
        <p:spPr>
          <a:xfrm flipH="false" flipV="false" rot="0">
            <a:off x="1028700" y="4592041"/>
            <a:ext cx="11301259" cy="2839441"/>
          </a:xfrm>
          <a:custGeom>
            <a:avLst/>
            <a:gdLst/>
            <a:ahLst/>
            <a:cxnLst/>
            <a:rect r="r" b="b" t="t" l="l"/>
            <a:pathLst>
              <a:path h="2839441" w="11301259">
                <a:moveTo>
                  <a:pt x="0" y="0"/>
                </a:moveTo>
                <a:lnTo>
                  <a:pt x="11301259" y="0"/>
                </a:lnTo>
                <a:lnTo>
                  <a:pt x="11301259" y="2839442"/>
                </a:lnTo>
                <a:lnTo>
                  <a:pt x="0" y="2839442"/>
                </a:lnTo>
                <a:lnTo>
                  <a:pt x="0" y="0"/>
                </a:lnTo>
                <a:close/>
              </a:path>
            </a:pathLst>
          </a:custGeom>
          <a:blipFill>
            <a:blip r:embed="rId6"/>
            <a:stretch>
              <a:fillRect l="0" t="0" r="0" b="0"/>
            </a:stretch>
          </a:blipFill>
        </p:spPr>
      </p:sp>
      <p:sp>
        <p:nvSpPr>
          <p:cNvPr name="Freeform 10" id="10"/>
          <p:cNvSpPr/>
          <p:nvPr/>
        </p:nvSpPr>
        <p:spPr>
          <a:xfrm flipH="false" flipV="false" rot="0">
            <a:off x="1028700" y="7418984"/>
            <a:ext cx="11301259" cy="2839441"/>
          </a:xfrm>
          <a:custGeom>
            <a:avLst/>
            <a:gdLst/>
            <a:ahLst/>
            <a:cxnLst/>
            <a:rect r="r" b="b" t="t" l="l"/>
            <a:pathLst>
              <a:path h="2839441" w="11301259">
                <a:moveTo>
                  <a:pt x="0" y="0"/>
                </a:moveTo>
                <a:lnTo>
                  <a:pt x="11301259" y="0"/>
                </a:lnTo>
                <a:lnTo>
                  <a:pt x="11301259" y="2839441"/>
                </a:lnTo>
                <a:lnTo>
                  <a:pt x="0" y="2839441"/>
                </a:lnTo>
                <a:lnTo>
                  <a:pt x="0" y="0"/>
                </a:lnTo>
                <a:close/>
              </a:path>
            </a:pathLst>
          </a:custGeom>
          <a:blipFill>
            <a:blip r:embed="rId7"/>
            <a:stretch>
              <a:fillRect l="0" t="0" r="0" b="0"/>
            </a:stretch>
          </a:blipFill>
        </p:spPr>
      </p:sp>
      <p:sp>
        <p:nvSpPr>
          <p:cNvPr name="TextBox 11" id="11"/>
          <p:cNvSpPr txBox="true"/>
          <p:nvPr/>
        </p:nvSpPr>
        <p:spPr>
          <a:xfrm rot="0">
            <a:off x="-386498" y="196850"/>
            <a:ext cx="12584372" cy="1225550"/>
          </a:xfrm>
          <a:prstGeom prst="rect">
            <a:avLst/>
          </a:prstGeom>
        </p:spPr>
        <p:txBody>
          <a:bodyPr anchor="t" rtlCol="false" tIns="0" lIns="0" bIns="0" rIns="0">
            <a:spAutoFit/>
          </a:bodyPr>
          <a:lstStyle/>
          <a:p>
            <a:pPr algn="ctr">
              <a:lnSpc>
                <a:spcPts val="4900"/>
              </a:lnSpc>
            </a:pPr>
            <a:r>
              <a:rPr lang="en-US" b="true" sz="3500">
                <a:solidFill>
                  <a:srgbClr val="F9F6FF"/>
                </a:solidFill>
                <a:latin typeface="Montserrat Bold"/>
                <a:ea typeface="Montserrat Bold"/>
                <a:cs typeface="Montserrat Bold"/>
                <a:sym typeface="Montserrat Bold"/>
              </a:rPr>
              <a:t>N-GRAM SENTIMEN MASING-MASING APLIKASI</a:t>
            </a:r>
          </a:p>
          <a:p>
            <a:pPr algn="ctr">
              <a:lnSpc>
                <a:spcPts val="4900"/>
              </a:lnSpc>
            </a:pPr>
            <a:r>
              <a:rPr lang="en-US" b="true" sz="3500">
                <a:solidFill>
                  <a:srgbClr val="F9F6FF"/>
                </a:solidFill>
                <a:latin typeface="Montserrat Bold"/>
                <a:ea typeface="Montserrat Bold"/>
                <a:cs typeface="Montserrat Bold"/>
                <a:sym typeface="Montserrat Bold"/>
              </a:rPr>
              <a:t>(TOKOPEDIA) </a:t>
            </a:r>
          </a:p>
        </p:txBody>
      </p:sp>
    </p:spTree>
  </p:cSld>
  <p:clrMapOvr>
    <a:masterClrMapping/>
  </p:clrMapOvr>
  <p:transition spd="fast">
    <p:fade/>
  </p:transition>
</p:sld>
</file>

<file path=ppt/slides/slide1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6250" t="0" r="-6250" b="0"/>
            </a:stretch>
          </a:blipFill>
        </p:spPr>
      </p:sp>
      <p:grpSp>
        <p:nvGrpSpPr>
          <p:cNvPr name="Group 3" id="3"/>
          <p:cNvGrpSpPr/>
          <p:nvPr/>
        </p:nvGrpSpPr>
        <p:grpSpPr>
          <a:xfrm rot="0">
            <a:off x="0" y="0"/>
            <a:ext cx="12075033" cy="1695450"/>
            <a:chOff x="0" y="0"/>
            <a:chExt cx="3180255" cy="446538"/>
          </a:xfrm>
        </p:grpSpPr>
        <p:sp>
          <p:nvSpPr>
            <p:cNvPr name="Freeform 4" id="4"/>
            <p:cNvSpPr/>
            <p:nvPr/>
          </p:nvSpPr>
          <p:spPr>
            <a:xfrm flipH="false" flipV="false" rot="0">
              <a:off x="0" y="0"/>
              <a:ext cx="3180255" cy="446538"/>
            </a:xfrm>
            <a:custGeom>
              <a:avLst/>
              <a:gdLst/>
              <a:ahLst/>
              <a:cxnLst/>
              <a:rect r="r" b="b" t="t" l="l"/>
              <a:pathLst>
                <a:path h="446538" w="3180255">
                  <a:moveTo>
                    <a:pt x="0" y="0"/>
                  </a:moveTo>
                  <a:lnTo>
                    <a:pt x="3180255" y="0"/>
                  </a:lnTo>
                  <a:lnTo>
                    <a:pt x="3180255" y="446538"/>
                  </a:lnTo>
                  <a:lnTo>
                    <a:pt x="0" y="446538"/>
                  </a:lnTo>
                  <a:close/>
                </a:path>
              </a:pathLst>
            </a:custGeom>
            <a:solidFill>
              <a:srgbClr val="004AAD"/>
            </a:solidFill>
          </p:spPr>
        </p:sp>
        <p:sp>
          <p:nvSpPr>
            <p:cNvPr name="TextBox 5" id="5"/>
            <p:cNvSpPr txBox="true"/>
            <p:nvPr/>
          </p:nvSpPr>
          <p:spPr>
            <a:xfrm>
              <a:off x="0" y="-28575"/>
              <a:ext cx="3180255" cy="475113"/>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10800000">
            <a:off x="13924299" y="5114925"/>
            <a:ext cx="5143500" cy="5143500"/>
          </a:xfrm>
          <a:custGeom>
            <a:avLst/>
            <a:gdLst/>
            <a:ahLst/>
            <a:cxnLst/>
            <a:rect r="r" b="b" t="t" l="l"/>
            <a:pathLst>
              <a:path h="5143500" w="5143500">
                <a:moveTo>
                  <a:pt x="0" y="0"/>
                </a:moveTo>
                <a:lnTo>
                  <a:pt x="5143500" y="0"/>
                </a:lnTo>
                <a:lnTo>
                  <a:pt x="5143500" y="5143500"/>
                </a:lnTo>
                <a:lnTo>
                  <a:pt x="0" y="514350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7" id="7"/>
          <p:cNvSpPr/>
          <p:nvPr/>
        </p:nvSpPr>
        <p:spPr>
          <a:xfrm flipH="false" flipV="false" rot="-10800000">
            <a:off x="13924299" y="0"/>
            <a:ext cx="5143500" cy="5143500"/>
          </a:xfrm>
          <a:custGeom>
            <a:avLst/>
            <a:gdLst/>
            <a:ahLst/>
            <a:cxnLst/>
            <a:rect r="r" b="b" t="t" l="l"/>
            <a:pathLst>
              <a:path h="5143500" w="5143500">
                <a:moveTo>
                  <a:pt x="0" y="0"/>
                </a:moveTo>
                <a:lnTo>
                  <a:pt x="5143500" y="0"/>
                </a:lnTo>
                <a:lnTo>
                  <a:pt x="5143500" y="5143500"/>
                </a:lnTo>
                <a:lnTo>
                  <a:pt x="0" y="514350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8" id="8"/>
          <p:cNvSpPr/>
          <p:nvPr/>
        </p:nvSpPr>
        <p:spPr>
          <a:xfrm flipH="false" flipV="false" rot="0">
            <a:off x="1028700" y="1763965"/>
            <a:ext cx="11301259" cy="2839441"/>
          </a:xfrm>
          <a:custGeom>
            <a:avLst/>
            <a:gdLst/>
            <a:ahLst/>
            <a:cxnLst/>
            <a:rect r="r" b="b" t="t" l="l"/>
            <a:pathLst>
              <a:path h="2839441" w="11301259">
                <a:moveTo>
                  <a:pt x="0" y="0"/>
                </a:moveTo>
                <a:lnTo>
                  <a:pt x="11301259" y="0"/>
                </a:lnTo>
                <a:lnTo>
                  <a:pt x="11301259" y="2839441"/>
                </a:lnTo>
                <a:lnTo>
                  <a:pt x="0" y="2839441"/>
                </a:lnTo>
                <a:lnTo>
                  <a:pt x="0" y="0"/>
                </a:lnTo>
                <a:close/>
              </a:path>
            </a:pathLst>
          </a:custGeom>
          <a:blipFill>
            <a:blip r:embed="rId5"/>
            <a:stretch>
              <a:fillRect l="0" t="0" r="0" b="0"/>
            </a:stretch>
          </a:blipFill>
        </p:spPr>
      </p:sp>
      <p:sp>
        <p:nvSpPr>
          <p:cNvPr name="Freeform 9" id="9"/>
          <p:cNvSpPr/>
          <p:nvPr/>
        </p:nvSpPr>
        <p:spPr>
          <a:xfrm flipH="false" flipV="false" rot="0">
            <a:off x="1028700" y="4660556"/>
            <a:ext cx="11301259" cy="2839441"/>
          </a:xfrm>
          <a:custGeom>
            <a:avLst/>
            <a:gdLst/>
            <a:ahLst/>
            <a:cxnLst/>
            <a:rect r="r" b="b" t="t" l="l"/>
            <a:pathLst>
              <a:path h="2839441" w="11301259">
                <a:moveTo>
                  <a:pt x="0" y="0"/>
                </a:moveTo>
                <a:lnTo>
                  <a:pt x="11301259" y="0"/>
                </a:lnTo>
                <a:lnTo>
                  <a:pt x="11301259" y="2839441"/>
                </a:lnTo>
                <a:lnTo>
                  <a:pt x="0" y="2839441"/>
                </a:lnTo>
                <a:lnTo>
                  <a:pt x="0" y="0"/>
                </a:lnTo>
                <a:close/>
              </a:path>
            </a:pathLst>
          </a:custGeom>
          <a:blipFill>
            <a:blip r:embed="rId6"/>
            <a:stretch>
              <a:fillRect l="0" t="0" r="0" b="0"/>
            </a:stretch>
          </a:blipFill>
        </p:spPr>
      </p:sp>
      <p:sp>
        <p:nvSpPr>
          <p:cNvPr name="Freeform 10" id="10"/>
          <p:cNvSpPr/>
          <p:nvPr/>
        </p:nvSpPr>
        <p:spPr>
          <a:xfrm flipH="false" flipV="false" rot="0">
            <a:off x="1028700" y="7461897"/>
            <a:ext cx="11301259" cy="2839441"/>
          </a:xfrm>
          <a:custGeom>
            <a:avLst/>
            <a:gdLst/>
            <a:ahLst/>
            <a:cxnLst/>
            <a:rect r="r" b="b" t="t" l="l"/>
            <a:pathLst>
              <a:path h="2839441" w="11301259">
                <a:moveTo>
                  <a:pt x="0" y="0"/>
                </a:moveTo>
                <a:lnTo>
                  <a:pt x="11301259" y="0"/>
                </a:lnTo>
                <a:lnTo>
                  <a:pt x="11301259" y="2839442"/>
                </a:lnTo>
                <a:lnTo>
                  <a:pt x="0" y="2839442"/>
                </a:lnTo>
                <a:lnTo>
                  <a:pt x="0" y="0"/>
                </a:lnTo>
                <a:close/>
              </a:path>
            </a:pathLst>
          </a:custGeom>
          <a:blipFill>
            <a:blip r:embed="rId7"/>
            <a:stretch>
              <a:fillRect l="0" t="0" r="0" b="0"/>
            </a:stretch>
          </a:blipFill>
        </p:spPr>
      </p:sp>
      <p:sp>
        <p:nvSpPr>
          <p:cNvPr name="TextBox 11" id="11"/>
          <p:cNvSpPr txBox="true"/>
          <p:nvPr/>
        </p:nvSpPr>
        <p:spPr>
          <a:xfrm rot="0">
            <a:off x="-386498" y="196850"/>
            <a:ext cx="12584372" cy="1225550"/>
          </a:xfrm>
          <a:prstGeom prst="rect">
            <a:avLst/>
          </a:prstGeom>
        </p:spPr>
        <p:txBody>
          <a:bodyPr anchor="t" rtlCol="false" tIns="0" lIns="0" bIns="0" rIns="0">
            <a:spAutoFit/>
          </a:bodyPr>
          <a:lstStyle/>
          <a:p>
            <a:pPr algn="ctr">
              <a:lnSpc>
                <a:spcPts val="4900"/>
              </a:lnSpc>
            </a:pPr>
            <a:r>
              <a:rPr lang="en-US" b="true" sz="3500">
                <a:solidFill>
                  <a:srgbClr val="F9F6FF"/>
                </a:solidFill>
                <a:latin typeface="Montserrat Bold"/>
                <a:ea typeface="Montserrat Bold"/>
                <a:cs typeface="Montserrat Bold"/>
                <a:sym typeface="Montserrat Bold"/>
              </a:rPr>
              <a:t>N-GRAM SENTIMEN MASING-MASING APLIKASI</a:t>
            </a:r>
          </a:p>
          <a:p>
            <a:pPr algn="ctr">
              <a:lnSpc>
                <a:spcPts val="4900"/>
              </a:lnSpc>
            </a:pPr>
            <a:r>
              <a:rPr lang="en-US" b="true" sz="3500">
                <a:solidFill>
                  <a:srgbClr val="F9F6FF"/>
                </a:solidFill>
                <a:latin typeface="Montserrat Bold"/>
                <a:ea typeface="Montserrat Bold"/>
                <a:cs typeface="Montserrat Bold"/>
                <a:sym typeface="Montserrat Bold"/>
              </a:rPr>
              <a:t>(LAZADA)</a:t>
            </a:r>
          </a:p>
        </p:txBody>
      </p:sp>
    </p:spTree>
  </p:cSld>
  <p:clrMapOvr>
    <a:masterClrMapping/>
  </p:clrMapOvr>
  <p:transition spd="fast">
    <p:fade/>
  </p:transition>
</p:sld>
</file>

<file path=ppt/slides/slide2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6250" t="0" r="-6250" b="0"/>
            </a:stretch>
          </a:blipFill>
        </p:spPr>
      </p:sp>
      <p:sp>
        <p:nvSpPr>
          <p:cNvPr name="Freeform 3" id="3"/>
          <p:cNvSpPr/>
          <p:nvPr/>
        </p:nvSpPr>
        <p:spPr>
          <a:xfrm flipH="false" flipV="false" rot="-3153086">
            <a:off x="-1229843" y="7562850"/>
            <a:ext cx="5143500" cy="5143500"/>
          </a:xfrm>
          <a:custGeom>
            <a:avLst/>
            <a:gdLst/>
            <a:ahLst/>
            <a:cxnLst/>
            <a:rect r="r" b="b" t="t" l="l"/>
            <a:pathLst>
              <a:path h="5143500" w="5143500">
                <a:moveTo>
                  <a:pt x="0" y="0"/>
                </a:moveTo>
                <a:lnTo>
                  <a:pt x="5143500" y="0"/>
                </a:lnTo>
                <a:lnTo>
                  <a:pt x="5143500" y="5143500"/>
                </a:lnTo>
                <a:lnTo>
                  <a:pt x="0" y="514350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4" id="4"/>
          <p:cNvGrpSpPr/>
          <p:nvPr/>
        </p:nvGrpSpPr>
        <p:grpSpPr>
          <a:xfrm rot="0">
            <a:off x="0" y="0"/>
            <a:ext cx="13765597" cy="1695450"/>
            <a:chOff x="0" y="0"/>
            <a:chExt cx="3625507" cy="446538"/>
          </a:xfrm>
        </p:grpSpPr>
        <p:sp>
          <p:nvSpPr>
            <p:cNvPr name="Freeform 5" id="5"/>
            <p:cNvSpPr/>
            <p:nvPr/>
          </p:nvSpPr>
          <p:spPr>
            <a:xfrm flipH="false" flipV="false" rot="0">
              <a:off x="0" y="0"/>
              <a:ext cx="3625507" cy="446538"/>
            </a:xfrm>
            <a:custGeom>
              <a:avLst/>
              <a:gdLst/>
              <a:ahLst/>
              <a:cxnLst/>
              <a:rect r="r" b="b" t="t" l="l"/>
              <a:pathLst>
                <a:path h="446538" w="3625507">
                  <a:moveTo>
                    <a:pt x="0" y="0"/>
                  </a:moveTo>
                  <a:lnTo>
                    <a:pt x="3625507" y="0"/>
                  </a:lnTo>
                  <a:lnTo>
                    <a:pt x="3625507" y="446538"/>
                  </a:lnTo>
                  <a:lnTo>
                    <a:pt x="0" y="446538"/>
                  </a:lnTo>
                  <a:close/>
                </a:path>
              </a:pathLst>
            </a:custGeom>
            <a:solidFill>
              <a:srgbClr val="004AAD"/>
            </a:solidFill>
          </p:spPr>
        </p:sp>
        <p:sp>
          <p:nvSpPr>
            <p:cNvPr name="TextBox 6" id="6"/>
            <p:cNvSpPr txBox="true"/>
            <p:nvPr/>
          </p:nvSpPr>
          <p:spPr>
            <a:xfrm>
              <a:off x="0" y="-28575"/>
              <a:ext cx="3625507" cy="475113"/>
            </a:xfrm>
            <a:prstGeom prst="rect">
              <a:avLst/>
            </a:prstGeom>
          </p:spPr>
          <p:txBody>
            <a:bodyPr anchor="ctr" rtlCol="false" tIns="50800" lIns="50800" bIns="50800" rIns="50800"/>
            <a:lstStyle/>
            <a:p>
              <a:pPr algn="ctr">
                <a:lnSpc>
                  <a:spcPts val="2659"/>
                </a:lnSpc>
              </a:pPr>
            </a:p>
          </p:txBody>
        </p:sp>
      </p:grpSp>
      <p:sp>
        <p:nvSpPr>
          <p:cNvPr name="Freeform 7" id="7"/>
          <p:cNvSpPr/>
          <p:nvPr/>
        </p:nvSpPr>
        <p:spPr>
          <a:xfrm flipH="false" flipV="false" rot="-5400000">
            <a:off x="16129134" y="2825616"/>
            <a:ext cx="2656373" cy="396041"/>
          </a:xfrm>
          <a:custGeom>
            <a:avLst/>
            <a:gdLst/>
            <a:ahLst/>
            <a:cxnLst/>
            <a:rect r="r" b="b" t="t" l="l"/>
            <a:pathLst>
              <a:path h="396041" w="2656373">
                <a:moveTo>
                  <a:pt x="0" y="0"/>
                </a:moveTo>
                <a:lnTo>
                  <a:pt x="2656373" y="0"/>
                </a:lnTo>
                <a:lnTo>
                  <a:pt x="2656373" y="396041"/>
                </a:lnTo>
                <a:lnTo>
                  <a:pt x="0" y="396041"/>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8" id="8"/>
          <p:cNvSpPr/>
          <p:nvPr/>
        </p:nvSpPr>
        <p:spPr>
          <a:xfrm flipH="false" flipV="false" rot="-7447861">
            <a:off x="13783072" y="7325834"/>
            <a:ext cx="5143500" cy="5143500"/>
          </a:xfrm>
          <a:custGeom>
            <a:avLst/>
            <a:gdLst/>
            <a:ahLst/>
            <a:cxnLst/>
            <a:rect r="r" b="b" t="t" l="l"/>
            <a:pathLst>
              <a:path h="5143500" w="5143500">
                <a:moveTo>
                  <a:pt x="0" y="0"/>
                </a:moveTo>
                <a:lnTo>
                  <a:pt x="5143500" y="0"/>
                </a:lnTo>
                <a:lnTo>
                  <a:pt x="5143500" y="5143500"/>
                </a:lnTo>
                <a:lnTo>
                  <a:pt x="0" y="514350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aphicFrame>
        <p:nvGraphicFramePr>
          <p:cNvPr name="Table 9" id="9"/>
          <p:cNvGraphicFramePr>
            <a:graphicFrameLocks noGrp="true"/>
          </p:cNvGraphicFramePr>
          <p:nvPr/>
        </p:nvGraphicFramePr>
        <p:xfrm>
          <a:off x="1545230" y="2135457"/>
          <a:ext cx="14809592" cy="7648575"/>
        </p:xfrm>
        <a:graphic>
          <a:graphicData uri="http://schemas.openxmlformats.org/drawingml/2006/table">
            <a:tbl>
              <a:tblPr/>
              <a:tblGrid>
                <a:gridCol w="4352624"/>
                <a:gridCol w="3389326"/>
                <a:gridCol w="3557903"/>
                <a:gridCol w="3509739"/>
              </a:tblGrid>
              <a:tr h="823251">
                <a:tc>
                  <a:txBody>
                    <a:bodyPr anchor="t" rtlCol="false"/>
                    <a:lstStyle/>
                    <a:p>
                      <a:pPr algn="ctr">
                        <a:lnSpc>
                          <a:spcPts val="2799"/>
                        </a:lnSpc>
                        <a:defRPr/>
                      </a:pPr>
                      <a:r>
                        <a:rPr lang="en-US" sz="1999" b="true">
                          <a:solidFill>
                            <a:srgbClr val="000000"/>
                          </a:solidFill>
                          <a:latin typeface="Clear Sans Bold"/>
                          <a:ea typeface="Clear Sans Bold"/>
                          <a:cs typeface="Clear Sans Bold"/>
                          <a:sym typeface="Clear Sans Bold"/>
                        </a:rPr>
                        <a:t>Lazada</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solidFill>
                      <a:srgbClr val="5271FF"/>
                    </a:solidFill>
                  </a:tcPr>
                </a:tc>
                <a:tc>
                  <a:txBody>
                    <a:bodyPr anchor="t" rtlCol="false"/>
                    <a:lstStyle/>
                    <a:p>
                      <a:pPr algn="ctr">
                        <a:lnSpc>
                          <a:spcPts val="2799"/>
                        </a:lnSpc>
                        <a:defRPr/>
                      </a:pPr>
                      <a:r>
                        <a:rPr lang="en-US" sz="1999" b="true">
                          <a:solidFill>
                            <a:srgbClr val="000000"/>
                          </a:solidFill>
                          <a:latin typeface="Clear Sans Bold"/>
                          <a:ea typeface="Clear Sans Bold"/>
                          <a:cs typeface="Clear Sans Bold"/>
                          <a:sym typeface="Clear Sans Bold"/>
                        </a:rPr>
                        <a:t>Aspek Perbandingan</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solidFill>
                      <a:srgbClr val="5271FF"/>
                    </a:solidFill>
                  </a:tcPr>
                </a:tc>
                <a:tc>
                  <a:txBody>
                    <a:bodyPr anchor="t" rtlCol="false"/>
                    <a:lstStyle/>
                    <a:p>
                      <a:pPr algn="ctr">
                        <a:lnSpc>
                          <a:spcPts val="2799"/>
                        </a:lnSpc>
                        <a:defRPr/>
                      </a:pPr>
                      <a:r>
                        <a:rPr lang="en-US" sz="1999" b="true">
                          <a:solidFill>
                            <a:srgbClr val="000000"/>
                          </a:solidFill>
                          <a:latin typeface="Clear Sans Bold"/>
                          <a:ea typeface="Clear Sans Bold"/>
                          <a:cs typeface="Clear Sans Bold"/>
                          <a:sym typeface="Clear Sans Bold"/>
                        </a:rPr>
                        <a:t>Shopee</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solidFill>
                      <a:srgbClr val="5271FF"/>
                    </a:solidFill>
                  </a:tcPr>
                </a:tc>
                <a:tc>
                  <a:txBody>
                    <a:bodyPr anchor="t" rtlCol="false"/>
                    <a:lstStyle/>
                    <a:p>
                      <a:pPr algn="ctr">
                        <a:lnSpc>
                          <a:spcPts val="2799"/>
                        </a:lnSpc>
                        <a:defRPr/>
                      </a:pPr>
                      <a:r>
                        <a:rPr lang="en-US" sz="1999" b="true">
                          <a:solidFill>
                            <a:srgbClr val="000000"/>
                          </a:solidFill>
                          <a:latin typeface="Clear Sans Bold"/>
                          <a:ea typeface="Clear Sans Bold"/>
                          <a:cs typeface="Clear Sans Bold"/>
                          <a:sym typeface="Clear Sans Bold"/>
                        </a:rPr>
                        <a:t>Tokopedia</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solidFill>
                      <a:srgbClr val="5271FF"/>
                    </a:solidFill>
                  </a:tcPr>
                </a:tc>
              </a:tr>
              <a:tr h="823251">
                <a:tc>
                  <a:txBody>
                    <a:bodyPr anchor="t" rtlCol="false"/>
                    <a:lstStyle/>
                    <a:p>
                      <a:pPr algn="ctr">
                        <a:lnSpc>
                          <a:spcPts val="2799"/>
                        </a:lnSpc>
                        <a:defRPr/>
                      </a:pPr>
                      <a:r>
                        <a:rPr lang="en-US" sz="1999">
                          <a:solidFill>
                            <a:srgbClr val="000000"/>
                          </a:solidFill>
                          <a:latin typeface="Clear Sans"/>
                          <a:ea typeface="Clear Sans"/>
                          <a:cs typeface="Clear Sans"/>
                          <a:sym typeface="Clear Sans"/>
                        </a:rPr>
                        <a:t>Netral</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799"/>
                        </a:lnSpc>
                        <a:defRPr/>
                      </a:pPr>
                      <a:r>
                        <a:rPr lang="en-US" sz="1999" b="true">
                          <a:solidFill>
                            <a:srgbClr val="000000"/>
                          </a:solidFill>
                          <a:latin typeface="Clear Sans Bold"/>
                          <a:ea typeface="Clear Sans Bold"/>
                          <a:cs typeface="Clear Sans Bold"/>
                          <a:sym typeface="Clear Sans Bold"/>
                        </a:rPr>
                        <a:t>Dominasi Sentimen</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solidFill>
                      <a:srgbClr val="C2CDFF"/>
                    </a:solidFill>
                  </a:tcPr>
                </a:tc>
                <a:tc>
                  <a:txBody>
                    <a:bodyPr anchor="t" rtlCol="false"/>
                    <a:lstStyle/>
                    <a:p>
                      <a:pPr algn="ctr">
                        <a:lnSpc>
                          <a:spcPts val="2799"/>
                        </a:lnSpc>
                        <a:defRPr/>
                      </a:pPr>
                      <a:r>
                        <a:rPr lang="en-US" sz="1999">
                          <a:solidFill>
                            <a:srgbClr val="000000"/>
                          </a:solidFill>
                          <a:latin typeface="Clear Sans"/>
                          <a:ea typeface="Clear Sans"/>
                          <a:cs typeface="Clear Sans"/>
                          <a:sym typeface="Clear Sans"/>
                        </a:rPr>
                        <a:t>Netral </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799"/>
                        </a:lnSpc>
                        <a:defRPr/>
                      </a:pPr>
                      <a:r>
                        <a:rPr lang="en-US" sz="1999">
                          <a:solidFill>
                            <a:srgbClr val="000000"/>
                          </a:solidFill>
                          <a:latin typeface="Clear Sans"/>
                          <a:ea typeface="Clear Sans"/>
                          <a:cs typeface="Clear Sans"/>
                          <a:sym typeface="Clear Sans"/>
                        </a:rPr>
                        <a:t>Netral</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823251">
                <a:tc>
                  <a:txBody>
                    <a:bodyPr anchor="t" rtlCol="false"/>
                    <a:lstStyle/>
                    <a:p>
                      <a:pPr algn="ctr">
                        <a:lnSpc>
                          <a:spcPts val="2799"/>
                        </a:lnSpc>
                        <a:defRPr/>
                      </a:pPr>
                      <a:r>
                        <a:rPr lang="en-US" sz="1999">
                          <a:solidFill>
                            <a:srgbClr val="000000"/>
                          </a:solidFill>
                          <a:latin typeface="Clear Sans"/>
                          <a:ea typeface="Clear Sans"/>
                          <a:cs typeface="Clear Sans"/>
                          <a:sym typeface="Clear Sans"/>
                        </a:rPr>
                        <a:t>Paling rendah</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799"/>
                        </a:lnSpc>
                        <a:defRPr/>
                      </a:pPr>
                      <a:r>
                        <a:rPr lang="en-US" sz="1999" b="true">
                          <a:solidFill>
                            <a:srgbClr val="000000"/>
                          </a:solidFill>
                          <a:latin typeface="Clear Sans Bold"/>
                          <a:ea typeface="Clear Sans Bold"/>
                          <a:cs typeface="Clear Sans Bold"/>
                          <a:sym typeface="Clear Sans Bold"/>
                        </a:rPr>
                        <a:t>Sentimen Positif</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solidFill>
                      <a:srgbClr val="C2CDFF"/>
                    </a:solidFill>
                  </a:tcPr>
                </a:tc>
                <a:tc>
                  <a:txBody>
                    <a:bodyPr anchor="t" rtlCol="false"/>
                    <a:lstStyle/>
                    <a:p>
                      <a:pPr algn="ctr">
                        <a:lnSpc>
                          <a:spcPts val="2799"/>
                        </a:lnSpc>
                        <a:defRPr/>
                      </a:pPr>
                      <a:r>
                        <a:rPr lang="en-US" sz="1999">
                          <a:solidFill>
                            <a:srgbClr val="000000"/>
                          </a:solidFill>
                          <a:latin typeface="Clear Sans"/>
                          <a:ea typeface="Clear Sans"/>
                          <a:cs typeface="Clear Sans"/>
                          <a:sym typeface="Clear Sans"/>
                        </a:rPr>
                        <a:t>Tinggi</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799"/>
                        </a:lnSpc>
                        <a:defRPr/>
                      </a:pPr>
                      <a:r>
                        <a:rPr lang="en-US" sz="1999">
                          <a:solidFill>
                            <a:srgbClr val="000000"/>
                          </a:solidFill>
                          <a:latin typeface="Clear Sans"/>
                          <a:ea typeface="Clear Sans"/>
                          <a:cs typeface="Clear Sans"/>
                          <a:sym typeface="Clear Sans"/>
                        </a:rPr>
                        <a:t>Cukup tinggi</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823251">
                <a:tc>
                  <a:txBody>
                    <a:bodyPr anchor="t" rtlCol="false"/>
                    <a:lstStyle/>
                    <a:p>
                      <a:pPr algn="ctr">
                        <a:lnSpc>
                          <a:spcPts val="2799"/>
                        </a:lnSpc>
                        <a:defRPr/>
                      </a:pPr>
                      <a:r>
                        <a:rPr lang="en-US" sz="1999">
                          <a:solidFill>
                            <a:srgbClr val="000000"/>
                          </a:solidFill>
                          <a:latin typeface="Clear Sans"/>
                          <a:ea typeface="Clear Sans"/>
                          <a:cs typeface="Clear Sans"/>
                          <a:sym typeface="Clear Sans"/>
                        </a:rPr>
                        <a:t>Relatif tinggi</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799"/>
                        </a:lnSpc>
                        <a:defRPr/>
                      </a:pPr>
                      <a:r>
                        <a:rPr lang="en-US" sz="1999" b="true">
                          <a:solidFill>
                            <a:srgbClr val="000000"/>
                          </a:solidFill>
                          <a:latin typeface="Clear Sans Bold"/>
                          <a:ea typeface="Clear Sans Bold"/>
                          <a:cs typeface="Clear Sans Bold"/>
                          <a:sym typeface="Clear Sans Bold"/>
                        </a:rPr>
                        <a:t>Sentimen Negatif</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solidFill>
                      <a:srgbClr val="C2CDFF"/>
                    </a:solidFill>
                  </a:tcPr>
                </a:tc>
                <a:tc>
                  <a:txBody>
                    <a:bodyPr anchor="t" rtlCol="false"/>
                    <a:lstStyle/>
                    <a:p>
                      <a:pPr algn="ctr">
                        <a:lnSpc>
                          <a:spcPts val="2799"/>
                        </a:lnSpc>
                        <a:defRPr/>
                      </a:pPr>
                      <a:r>
                        <a:rPr lang="en-US" sz="1999">
                          <a:solidFill>
                            <a:srgbClr val="000000"/>
                          </a:solidFill>
                          <a:latin typeface="Clear Sans"/>
                          <a:ea typeface="Clear Sans"/>
                          <a:cs typeface="Clear Sans"/>
                          <a:sym typeface="Clear Sans"/>
                        </a:rPr>
                        <a:t>Paling rendah</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799"/>
                        </a:lnSpc>
                        <a:defRPr/>
                      </a:pPr>
                      <a:r>
                        <a:rPr lang="en-US" sz="1999">
                          <a:solidFill>
                            <a:srgbClr val="000000"/>
                          </a:solidFill>
                          <a:latin typeface="Clear Sans"/>
                          <a:ea typeface="Clear Sans"/>
                          <a:cs typeface="Clear Sans"/>
                          <a:sym typeface="Clear Sans"/>
                        </a:rPr>
                        <a:t>Sedang</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1177440">
                <a:tc>
                  <a:txBody>
                    <a:bodyPr anchor="t" rtlCol="false"/>
                    <a:lstStyle/>
                    <a:p>
                      <a:pPr algn="ctr">
                        <a:lnSpc>
                          <a:spcPts val="2799"/>
                        </a:lnSpc>
                        <a:defRPr/>
                      </a:pPr>
                      <a:r>
                        <a:rPr lang="en-US" sz="1999">
                          <a:solidFill>
                            <a:srgbClr val="000000"/>
                          </a:solidFill>
                          <a:latin typeface="Clear Sans"/>
                          <a:ea typeface="Clear Sans"/>
                          <a:cs typeface="Clear Sans"/>
                          <a:sym typeface="Clear Sans"/>
                        </a:rPr>
                        <a:t>Pengalaman beragam</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799"/>
                        </a:lnSpc>
                        <a:defRPr/>
                      </a:pPr>
                      <a:r>
                        <a:rPr lang="en-US" sz="1999" b="true">
                          <a:solidFill>
                            <a:srgbClr val="000000"/>
                          </a:solidFill>
                          <a:latin typeface="Clear Sans Bold"/>
                          <a:ea typeface="Clear Sans Bold"/>
                          <a:cs typeface="Clear Sans Bold"/>
                          <a:sym typeface="Clear Sans Bold"/>
                        </a:rPr>
                        <a:t>Kesan Umum Pengguna</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solidFill>
                      <a:srgbClr val="C2CDFF"/>
                    </a:solidFill>
                  </a:tcPr>
                </a:tc>
                <a:tc>
                  <a:txBody>
                    <a:bodyPr anchor="t" rtlCol="false"/>
                    <a:lstStyle/>
                    <a:p>
                      <a:pPr algn="ctr">
                        <a:lnSpc>
                          <a:spcPts val="2799"/>
                        </a:lnSpc>
                        <a:defRPr/>
                      </a:pPr>
                      <a:r>
                        <a:rPr lang="en-US" sz="1999">
                          <a:solidFill>
                            <a:srgbClr val="000000"/>
                          </a:solidFill>
                          <a:latin typeface="Clear Sans"/>
                          <a:ea typeface="Clear Sans"/>
                          <a:cs typeface="Clear Sans"/>
                          <a:sym typeface="Clear Sans"/>
                        </a:rPr>
                        <a:t>Pengalaman pengguna memuaskan</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799"/>
                        </a:lnSpc>
                        <a:defRPr/>
                      </a:pPr>
                      <a:r>
                        <a:rPr lang="en-US" sz="1999">
                          <a:solidFill>
                            <a:srgbClr val="000000"/>
                          </a:solidFill>
                          <a:latin typeface="Clear Sans"/>
                          <a:ea typeface="Clear Sans"/>
                          <a:cs typeface="Clear Sans"/>
                          <a:sym typeface="Clear Sans"/>
                        </a:rPr>
                        <a:t>Stabil dan fungsional</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1177440">
                <a:tc>
                  <a:txBody>
                    <a:bodyPr anchor="t" rtlCol="false"/>
                    <a:lstStyle/>
                    <a:p>
                      <a:pPr algn="ctr">
                        <a:lnSpc>
                          <a:spcPts val="2799"/>
                        </a:lnSpc>
                        <a:defRPr/>
                      </a:pPr>
                      <a:r>
                        <a:rPr lang="en-US" sz="1999">
                          <a:solidFill>
                            <a:srgbClr val="000000"/>
                          </a:solidFill>
                          <a:latin typeface="Clear Sans"/>
                          <a:ea typeface="Clear Sans"/>
                          <a:cs typeface="Clear Sans"/>
                          <a:sym typeface="Clear Sans"/>
                        </a:rPr>
                        <a:t>bagus, murah, mantap, mudah</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799"/>
                        </a:lnSpc>
                        <a:defRPr/>
                      </a:pPr>
                      <a:r>
                        <a:rPr lang="en-US" sz="1999" b="true">
                          <a:solidFill>
                            <a:srgbClr val="000000"/>
                          </a:solidFill>
                          <a:latin typeface="Clear Sans Bold"/>
                          <a:ea typeface="Clear Sans Bold"/>
                          <a:cs typeface="Clear Sans Bold"/>
                          <a:sym typeface="Clear Sans Bold"/>
                        </a:rPr>
                        <a:t>Kata Positif Dominan</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solidFill>
                      <a:srgbClr val="C2CDFF"/>
                    </a:solidFill>
                  </a:tcPr>
                </a:tc>
                <a:tc>
                  <a:txBody>
                    <a:bodyPr anchor="t" rtlCol="false"/>
                    <a:lstStyle/>
                    <a:p>
                      <a:pPr algn="ctr">
                        <a:lnSpc>
                          <a:spcPts val="2799"/>
                        </a:lnSpc>
                        <a:defRPr/>
                      </a:pPr>
                      <a:r>
                        <a:rPr lang="en-US" sz="1999">
                          <a:solidFill>
                            <a:srgbClr val="000000"/>
                          </a:solidFill>
                          <a:latin typeface="Clear Sans"/>
                          <a:ea typeface="Clear Sans"/>
                          <a:cs typeface="Clear Sans"/>
                          <a:sym typeface="Clear Sans"/>
                        </a:rPr>
                        <a:t>bagus, murah, puas, mudah</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799"/>
                        </a:lnSpc>
                        <a:defRPr/>
                      </a:pPr>
                      <a:r>
                        <a:rPr lang="en-US" sz="1999">
                          <a:solidFill>
                            <a:srgbClr val="000000"/>
                          </a:solidFill>
                          <a:latin typeface="Clear Sans"/>
                          <a:ea typeface="Clear Sans"/>
                          <a:cs typeface="Clear Sans"/>
                          <a:sym typeface="Clear Sans"/>
                        </a:rPr>
                        <a:t>bagus, mantap, cepat, mudah</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823251">
                <a:tc>
                  <a:txBody>
                    <a:bodyPr anchor="t" rtlCol="false"/>
                    <a:lstStyle/>
                    <a:p>
                      <a:pPr algn="ctr">
                        <a:lnSpc>
                          <a:spcPts val="2799"/>
                        </a:lnSpc>
                        <a:defRPr/>
                      </a:pPr>
                      <a:r>
                        <a:rPr lang="en-US" sz="1999">
                          <a:solidFill>
                            <a:srgbClr val="000000"/>
                          </a:solidFill>
                          <a:latin typeface="Clear Sans"/>
                          <a:ea typeface="Clear Sans"/>
                          <a:cs typeface="Clear Sans"/>
                          <a:sym typeface="Clear Sans"/>
                        </a:rPr>
                        <a:t>mahal, banyak tipu, lama</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799"/>
                        </a:lnSpc>
                        <a:defRPr/>
                      </a:pPr>
                      <a:r>
                        <a:rPr lang="en-US" sz="1999" b="true">
                          <a:solidFill>
                            <a:srgbClr val="000000"/>
                          </a:solidFill>
                          <a:latin typeface="Clear Sans Bold"/>
                          <a:ea typeface="Clear Sans Bold"/>
                          <a:cs typeface="Clear Sans Bold"/>
                          <a:sym typeface="Clear Sans Bold"/>
                        </a:rPr>
                        <a:t>Fokus Keluhan Utama</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solidFill>
                      <a:srgbClr val="C2CDFF"/>
                    </a:solidFill>
                  </a:tcPr>
                </a:tc>
                <a:tc>
                  <a:txBody>
                    <a:bodyPr anchor="t" rtlCol="false"/>
                    <a:lstStyle/>
                    <a:p>
                      <a:pPr algn="ctr">
                        <a:lnSpc>
                          <a:spcPts val="2799"/>
                        </a:lnSpc>
                        <a:defRPr/>
                      </a:pPr>
                      <a:r>
                        <a:rPr lang="en-US" sz="1999">
                          <a:solidFill>
                            <a:srgbClr val="000000"/>
                          </a:solidFill>
                          <a:latin typeface="Clear Sans"/>
                          <a:ea typeface="Clear Sans"/>
                          <a:cs typeface="Clear Sans"/>
                          <a:sym typeface="Clear Sans"/>
                        </a:rPr>
                        <a:t>ilkan, tiba-tiba, lama</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799"/>
                        </a:lnSpc>
                        <a:defRPr/>
                      </a:pPr>
                      <a:r>
                        <a:rPr lang="en-US" sz="1999">
                          <a:solidFill>
                            <a:srgbClr val="000000"/>
                          </a:solidFill>
                          <a:latin typeface="Clear Sans"/>
                          <a:ea typeface="Clear Sans"/>
                          <a:cs typeface="Clear Sans"/>
                          <a:sym typeface="Clear Sans"/>
                        </a:rPr>
                        <a:t>lama, ongkir mahal, tipu</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1177440">
                <a:tc>
                  <a:txBody>
                    <a:bodyPr anchor="t" rtlCol="false"/>
                    <a:lstStyle/>
                    <a:p>
                      <a:pPr algn="ctr">
                        <a:lnSpc>
                          <a:spcPts val="2799"/>
                        </a:lnSpc>
                        <a:defRPr/>
                      </a:pPr>
                      <a:r>
                        <a:rPr lang="en-US" sz="1999">
                          <a:solidFill>
                            <a:srgbClr val="000000"/>
                          </a:solidFill>
                          <a:latin typeface="Clear Sans"/>
                          <a:ea typeface="Clear Sans"/>
                          <a:cs typeface="Clear Sans"/>
                          <a:sym typeface="Clear Sans"/>
                        </a:rPr>
                        <a:t>Proses belanja dan pengiriman</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799"/>
                        </a:lnSpc>
                        <a:defRPr/>
                      </a:pPr>
                      <a:r>
                        <a:rPr lang="en-US" sz="1999" b="true">
                          <a:solidFill>
                            <a:srgbClr val="000000"/>
                          </a:solidFill>
                          <a:latin typeface="Clear Sans Bold"/>
                          <a:ea typeface="Clear Sans Bold"/>
                          <a:cs typeface="Clear Sans Bold"/>
                          <a:sym typeface="Clear Sans Bold"/>
                        </a:rPr>
                        <a:t>Karakteristik Ulasan Netral</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solidFill>
                      <a:srgbClr val="C2CDFF"/>
                    </a:solidFill>
                  </a:tcPr>
                </a:tc>
                <a:tc>
                  <a:txBody>
                    <a:bodyPr anchor="t" rtlCol="false"/>
                    <a:lstStyle/>
                    <a:p>
                      <a:pPr algn="ctr">
                        <a:lnSpc>
                          <a:spcPts val="2799"/>
                        </a:lnSpc>
                        <a:defRPr/>
                      </a:pPr>
                      <a:r>
                        <a:rPr lang="en-US" sz="1999">
                          <a:solidFill>
                            <a:srgbClr val="000000"/>
                          </a:solidFill>
                          <a:latin typeface="Clear Sans"/>
                          <a:ea typeface="Clear Sans"/>
                          <a:cs typeface="Clear Sans"/>
                          <a:sym typeface="Clear Sans"/>
                        </a:rPr>
                        <a:t>Transaksi dan fitur aplikasi</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799"/>
                        </a:lnSpc>
                        <a:defRPr/>
                      </a:pPr>
                      <a:r>
                        <a:rPr lang="en-US" sz="1999">
                          <a:solidFill>
                            <a:srgbClr val="000000"/>
                          </a:solidFill>
                          <a:latin typeface="Clear Sans"/>
                          <a:ea typeface="Clear Sans"/>
                          <a:cs typeface="Clear Sans"/>
                          <a:sym typeface="Clear Sans"/>
                        </a:rPr>
                        <a:t>Informasi layanan dan sistem</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bl>
          </a:graphicData>
        </a:graphic>
      </p:graphicFrame>
      <p:sp>
        <p:nvSpPr>
          <p:cNvPr name="TextBox 10" id="10"/>
          <p:cNvSpPr txBox="true"/>
          <p:nvPr/>
        </p:nvSpPr>
        <p:spPr>
          <a:xfrm rot="0">
            <a:off x="353370" y="515938"/>
            <a:ext cx="13268408" cy="606425"/>
          </a:xfrm>
          <a:prstGeom prst="rect">
            <a:avLst/>
          </a:prstGeom>
        </p:spPr>
        <p:txBody>
          <a:bodyPr anchor="t" rtlCol="false" tIns="0" lIns="0" bIns="0" rIns="0">
            <a:spAutoFit/>
          </a:bodyPr>
          <a:lstStyle/>
          <a:p>
            <a:pPr algn="l">
              <a:lnSpc>
                <a:spcPts val="4900"/>
              </a:lnSpc>
            </a:pPr>
            <a:r>
              <a:rPr lang="en-US" sz="3500" b="true">
                <a:solidFill>
                  <a:srgbClr val="F9F6FF"/>
                </a:solidFill>
                <a:latin typeface="Montserrat Bold"/>
                <a:ea typeface="Montserrat Bold"/>
                <a:cs typeface="Montserrat Bold"/>
                <a:sym typeface="Montserrat Bold"/>
              </a:rPr>
              <a:t>TABEL PERBANDINGAN SENTIMEN ULASAN PENGGUNA</a:t>
            </a:r>
          </a:p>
        </p:txBody>
      </p:sp>
    </p:spTree>
  </p:cSld>
  <p:clrMapOvr>
    <a:masterClrMapping/>
  </p:clrMapOvr>
  <p:transition spd="fast">
    <p:fade/>
  </p:transition>
</p:sld>
</file>

<file path=ppt/slides/slide2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6250" t="0" r="-6250" b="0"/>
            </a:stretch>
          </a:blipFill>
        </p:spPr>
      </p:sp>
      <p:sp>
        <p:nvSpPr>
          <p:cNvPr name="Freeform 3" id="3"/>
          <p:cNvSpPr/>
          <p:nvPr/>
        </p:nvSpPr>
        <p:spPr>
          <a:xfrm flipH="false" flipV="false" rot="-5400000">
            <a:off x="13144500" y="-3448050"/>
            <a:ext cx="5143500" cy="5143500"/>
          </a:xfrm>
          <a:custGeom>
            <a:avLst/>
            <a:gdLst/>
            <a:ahLst/>
            <a:cxnLst/>
            <a:rect r="r" b="b" t="t" l="l"/>
            <a:pathLst>
              <a:path h="5143500" w="5143500">
                <a:moveTo>
                  <a:pt x="0" y="0"/>
                </a:moveTo>
                <a:lnTo>
                  <a:pt x="5143500" y="0"/>
                </a:lnTo>
                <a:lnTo>
                  <a:pt x="5143500" y="5143500"/>
                </a:lnTo>
                <a:lnTo>
                  <a:pt x="0" y="514350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4" id="4"/>
          <p:cNvGrpSpPr/>
          <p:nvPr/>
        </p:nvGrpSpPr>
        <p:grpSpPr>
          <a:xfrm rot="0">
            <a:off x="0" y="0"/>
            <a:ext cx="5149977" cy="1695450"/>
            <a:chOff x="0" y="0"/>
            <a:chExt cx="1356372" cy="446538"/>
          </a:xfrm>
        </p:grpSpPr>
        <p:sp>
          <p:nvSpPr>
            <p:cNvPr name="Freeform 5" id="5"/>
            <p:cNvSpPr/>
            <p:nvPr/>
          </p:nvSpPr>
          <p:spPr>
            <a:xfrm flipH="false" flipV="false" rot="0">
              <a:off x="0" y="0"/>
              <a:ext cx="1356372" cy="446538"/>
            </a:xfrm>
            <a:custGeom>
              <a:avLst/>
              <a:gdLst/>
              <a:ahLst/>
              <a:cxnLst/>
              <a:rect r="r" b="b" t="t" l="l"/>
              <a:pathLst>
                <a:path h="446538" w="1356372">
                  <a:moveTo>
                    <a:pt x="0" y="0"/>
                  </a:moveTo>
                  <a:lnTo>
                    <a:pt x="1356372" y="0"/>
                  </a:lnTo>
                  <a:lnTo>
                    <a:pt x="1356372" y="446538"/>
                  </a:lnTo>
                  <a:lnTo>
                    <a:pt x="0" y="446538"/>
                  </a:lnTo>
                  <a:close/>
                </a:path>
              </a:pathLst>
            </a:custGeom>
            <a:solidFill>
              <a:srgbClr val="004AAD"/>
            </a:solidFill>
          </p:spPr>
        </p:sp>
        <p:sp>
          <p:nvSpPr>
            <p:cNvPr name="TextBox 6" id="6"/>
            <p:cNvSpPr txBox="true"/>
            <p:nvPr/>
          </p:nvSpPr>
          <p:spPr>
            <a:xfrm>
              <a:off x="0" y="-28575"/>
              <a:ext cx="1356372" cy="475113"/>
            </a:xfrm>
            <a:prstGeom prst="rect">
              <a:avLst/>
            </a:prstGeom>
          </p:spPr>
          <p:txBody>
            <a:bodyPr anchor="ctr" rtlCol="false" tIns="50800" lIns="50800" bIns="50800" rIns="50800"/>
            <a:lstStyle/>
            <a:p>
              <a:pPr algn="ctr">
                <a:lnSpc>
                  <a:spcPts val="2659"/>
                </a:lnSpc>
              </a:pPr>
            </a:p>
          </p:txBody>
        </p:sp>
      </p:grpSp>
      <p:sp>
        <p:nvSpPr>
          <p:cNvPr name="Freeform 7" id="7"/>
          <p:cNvSpPr/>
          <p:nvPr/>
        </p:nvSpPr>
        <p:spPr>
          <a:xfrm flipH="false" flipV="false" rot="0">
            <a:off x="14602927" y="8862259"/>
            <a:ext cx="2656373" cy="396041"/>
          </a:xfrm>
          <a:custGeom>
            <a:avLst/>
            <a:gdLst/>
            <a:ahLst/>
            <a:cxnLst/>
            <a:rect r="r" b="b" t="t" l="l"/>
            <a:pathLst>
              <a:path h="396041" w="2656373">
                <a:moveTo>
                  <a:pt x="0" y="0"/>
                </a:moveTo>
                <a:lnTo>
                  <a:pt x="2656373" y="0"/>
                </a:lnTo>
                <a:lnTo>
                  <a:pt x="2656373" y="396041"/>
                </a:lnTo>
                <a:lnTo>
                  <a:pt x="0" y="396041"/>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8" id="8"/>
          <p:cNvSpPr/>
          <p:nvPr/>
        </p:nvSpPr>
        <p:spPr>
          <a:xfrm flipH="false" flipV="false" rot="-5400000">
            <a:off x="0" y="8824960"/>
            <a:ext cx="5143500" cy="5143500"/>
          </a:xfrm>
          <a:custGeom>
            <a:avLst/>
            <a:gdLst/>
            <a:ahLst/>
            <a:cxnLst/>
            <a:rect r="r" b="b" t="t" l="l"/>
            <a:pathLst>
              <a:path h="5143500" w="5143500">
                <a:moveTo>
                  <a:pt x="0" y="0"/>
                </a:moveTo>
                <a:lnTo>
                  <a:pt x="5143500" y="0"/>
                </a:lnTo>
                <a:lnTo>
                  <a:pt x="5143500" y="5143500"/>
                </a:lnTo>
                <a:lnTo>
                  <a:pt x="0" y="514350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9" id="9"/>
          <p:cNvSpPr txBox="true"/>
          <p:nvPr/>
        </p:nvSpPr>
        <p:spPr>
          <a:xfrm rot="0">
            <a:off x="1197934" y="506413"/>
            <a:ext cx="10775358" cy="606425"/>
          </a:xfrm>
          <a:prstGeom prst="rect">
            <a:avLst/>
          </a:prstGeom>
        </p:spPr>
        <p:txBody>
          <a:bodyPr anchor="t" rtlCol="false" tIns="0" lIns="0" bIns="0" rIns="0">
            <a:spAutoFit/>
          </a:bodyPr>
          <a:lstStyle/>
          <a:p>
            <a:pPr algn="l">
              <a:lnSpc>
                <a:spcPts val="4900"/>
              </a:lnSpc>
            </a:pPr>
            <a:r>
              <a:rPr lang="en-US" sz="3500" b="true">
                <a:solidFill>
                  <a:srgbClr val="F9F6FF"/>
                </a:solidFill>
                <a:latin typeface="Montserrat Bold"/>
                <a:ea typeface="Montserrat Bold"/>
                <a:cs typeface="Montserrat Bold"/>
                <a:sym typeface="Montserrat Bold"/>
              </a:rPr>
              <a:t>KESIMPULAN</a:t>
            </a:r>
          </a:p>
        </p:txBody>
      </p:sp>
      <p:sp>
        <p:nvSpPr>
          <p:cNvPr name="TextBox 10" id="10"/>
          <p:cNvSpPr txBox="true"/>
          <p:nvPr/>
        </p:nvSpPr>
        <p:spPr>
          <a:xfrm rot="0">
            <a:off x="1028700" y="2566388"/>
            <a:ext cx="15865629" cy="6258572"/>
          </a:xfrm>
          <a:prstGeom prst="rect">
            <a:avLst/>
          </a:prstGeom>
        </p:spPr>
        <p:txBody>
          <a:bodyPr anchor="t" rtlCol="false" tIns="0" lIns="0" bIns="0" rIns="0">
            <a:spAutoFit/>
          </a:bodyPr>
          <a:lstStyle/>
          <a:p>
            <a:pPr algn="just" marL="642198" indent="-321099" lvl="1">
              <a:lnSpc>
                <a:spcPts val="4164"/>
              </a:lnSpc>
              <a:buFont typeface="Arial"/>
              <a:buChar char="•"/>
            </a:pPr>
            <a:r>
              <a:rPr lang="en-US" sz="2974">
                <a:solidFill>
                  <a:srgbClr val="2D1A52"/>
                </a:solidFill>
                <a:latin typeface="Clear Sans"/>
                <a:ea typeface="Clear Sans"/>
                <a:cs typeface="Clear Sans"/>
                <a:sym typeface="Clear Sans"/>
              </a:rPr>
              <a:t>Shopee memiliki tingkat kepuasan pengguna tertinggi berdasarkan dominasi sentimen positif, yang menunjukkan bahwa sebagian pengguna merasa puas terhadap layanan yang diberikan. Hal ini didukung oleh kemunculan kata dan frasa positif pada hasil wordcloud dan n-gram, seperti kemudahan berbelanja, promo, serta transaksi yang praktis.</a:t>
            </a:r>
          </a:p>
          <a:p>
            <a:pPr algn="just" marL="642198" indent="-321099" lvl="1">
              <a:lnSpc>
                <a:spcPts val="4164"/>
              </a:lnSpc>
              <a:buFont typeface="Arial"/>
              <a:buChar char="•"/>
            </a:pPr>
            <a:r>
              <a:rPr lang="en-US" sz="2974">
                <a:solidFill>
                  <a:srgbClr val="2D1A52"/>
                </a:solidFill>
                <a:latin typeface="Clear Sans"/>
                <a:ea typeface="Clear Sans"/>
                <a:cs typeface="Clear Sans"/>
                <a:sym typeface="Clear Sans"/>
              </a:rPr>
              <a:t>Tokopedia menunjukkan distribusi sentimen yang lebih seimbang antara positif, negatif, dan netral. Memiliki ulasan yang beragam, mencakup pujian dan kritik terkait performa aplikasi dan layanan. Hal ini mencerminkan tingkat ekspektasi pengguna yang cukup tinggi terhadap aplikasi Tokopedia.</a:t>
            </a:r>
          </a:p>
          <a:p>
            <a:pPr algn="just" marL="642198" indent="-321099" lvl="1">
              <a:lnSpc>
                <a:spcPts val="4164"/>
              </a:lnSpc>
              <a:buFont typeface="Arial"/>
              <a:buChar char="•"/>
            </a:pPr>
            <a:r>
              <a:rPr lang="en-US" sz="2974">
                <a:solidFill>
                  <a:srgbClr val="2D1A52"/>
                </a:solidFill>
                <a:latin typeface="Clear Sans"/>
                <a:ea typeface="Clear Sans"/>
                <a:cs typeface="Clear Sans"/>
                <a:sym typeface="Clear Sans"/>
              </a:rPr>
              <a:t>Lazada memiliki proporsi sentimen negatif yang lebih menonjol dibandingkan dua aplikasi lainnya. Berdasarkan n-gram, sentimen negatif pada Lazada banyak berkaitan dengan permasalahan pengiriman, biaya ongkir, serta kualitas layanan pelanggan.</a:t>
            </a:r>
          </a:p>
        </p:txBody>
      </p:sp>
    </p:spTree>
  </p:cSld>
  <p:clrMapOvr>
    <a:masterClrMapping/>
  </p:clrMapOvr>
  <p:transition spd="fast">
    <p:fade/>
  </p:transition>
</p:sld>
</file>

<file path=ppt/slides/slide2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6250" t="0" r="-6250" b="0"/>
            </a:stretch>
          </a:blipFill>
        </p:spPr>
      </p:sp>
      <p:sp>
        <p:nvSpPr>
          <p:cNvPr name="Freeform 3" id="3"/>
          <p:cNvSpPr/>
          <p:nvPr/>
        </p:nvSpPr>
        <p:spPr>
          <a:xfrm flipH="false" flipV="false" rot="0">
            <a:off x="14356254" y="0"/>
            <a:ext cx="5143500" cy="5143500"/>
          </a:xfrm>
          <a:custGeom>
            <a:avLst/>
            <a:gdLst/>
            <a:ahLst/>
            <a:cxnLst/>
            <a:rect r="r" b="b" t="t" l="l"/>
            <a:pathLst>
              <a:path h="5143500" w="5143500">
                <a:moveTo>
                  <a:pt x="0" y="0"/>
                </a:moveTo>
                <a:lnTo>
                  <a:pt x="5143500" y="0"/>
                </a:lnTo>
                <a:lnTo>
                  <a:pt x="5143500" y="5143500"/>
                </a:lnTo>
                <a:lnTo>
                  <a:pt x="0" y="514350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14356254" y="5143500"/>
            <a:ext cx="5143500" cy="5143500"/>
          </a:xfrm>
          <a:custGeom>
            <a:avLst/>
            <a:gdLst/>
            <a:ahLst/>
            <a:cxnLst/>
            <a:rect r="r" b="b" t="t" l="l"/>
            <a:pathLst>
              <a:path h="5143500" w="5143500">
                <a:moveTo>
                  <a:pt x="0" y="0"/>
                </a:moveTo>
                <a:lnTo>
                  <a:pt x="5143500" y="0"/>
                </a:lnTo>
                <a:lnTo>
                  <a:pt x="5143500" y="5143500"/>
                </a:lnTo>
                <a:lnTo>
                  <a:pt x="0" y="514350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5" id="5"/>
          <p:cNvGrpSpPr/>
          <p:nvPr/>
        </p:nvGrpSpPr>
        <p:grpSpPr>
          <a:xfrm rot="0">
            <a:off x="1028700" y="0"/>
            <a:ext cx="1192759" cy="1695450"/>
            <a:chOff x="0" y="0"/>
            <a:chExt cx="314142" cy="446538"/>
          </a:xfrm>
        </p:grpSpPr>
        <p:sp>
          <p:nvSpPr>
            <p:cNvPr name="Freeform 6" id="6"/>
            <p:cNvSpPr/>
            <p:nvPr/>
          </p:nvSpPr>
          <p:spPr>
            <a:xfrm flipH="false" flipV="false" rot="0">
              <a:off x="0" y="0"/>
              <a:ext cx="314142" cy="446538"/>
            </a:xfrm>
            <a:custGeom>
              <a:avLst/>
              <a:gdLst/>
              <a:ahLst/>
              <a:cxnLst/>
              <a:rect r="r" b="b" t="t" l="l"/>
              <a:pathLst>
                <a:path h="446538" w="314142">
                  <a:moveTo>
                    <a:pt x="0" y="0"/>
                  </a:moveTo>
                  <a:lnTo>
                    <a:pt x="314142" y="0"/>
                  </a:lnTo>
                  <a:lnTo>
                    <a:pt x="314142" y="446538"/>
                  </a:lnTo>
                  <a:lnTo>
                    <a:pt x="0" y="446538"/>
                  </a:lnTo>
                  <a:close/>
                </a:path>
              </a:pathLst>
            </a:custGeom>
            <a:solidFill>
              <a:srgbClr val="004AAD"/>
            </a:solidFill>
          </p:spPr>
        </p:sp>
        <p:sp>
          <p:nvSpPr>
            <p:cNvPr name="TextBox 7" id="7"/>
            <p:cNvSpPr txBox="true"/>
            <p:nvPr/>
          </p:nvSpPr>
          <p:spPr>
            <a:xfrm>
              <a:off x="0" y="-28575"/>
              <a:ext cx="314142" cy="475113"/>
            </a:xfrm>
            <a:prstGeom prst="rect">
              <a:avLst/>
            </a:prstGeom>
          </p:spPr>
          <p:txBody>
            <a:bodyPr anchor="ctr" rtlCol="false" tIns="50800" lIns="50800" bIns="50800" rIns="50800"/>
            <a:lstStyle/>
            <a:p>
              <a:pPr algn="ctr">
                <a:lnSpc>
                  <a:spcPts val="2659"/>
                </a:lnSpc>
              </a:pPr>
            </a:p>
          </p:txBody>
        </p:sp>
      </p:grpSp>
      <p:sp>
        <p:nvSpPr>
          <p:cNvPr name="Freeform 8" id="8"/>
          <p:cNvSpPr/>
          <p:nvPr/>
        </p:nvSpPr>
        <p:spPr>
          <a:xfrm flipH="false" flipV="false" rot="0">
            <a:off x="1028700" y="8862259"/>
            <a:ext cx="2656373" cy="396041"/>
          </a:xfrm>
          <a:custGeom>
            <a:avLst/>
            <a:gdLst/>
            <a:ahLst/>
            <a:cxnLst/>
            <a:rect r="r" b="b" t="t" l="l"/>
            <a:pathLst>
              <a:path h="396041" w="2656373">
                <a:moveTo>
                  <a:pt x="0" y="0"/>
                </a:moveTo>
                <a:lnTo>
                  <a:pt x="2656373" y="0"/>
                </a:lnTo>
                <a:lnTo>
                  <a:pt x="2656373" y="396041"/>
                </a:lnTo>
                <a:lnTo>
                  <a:pt x="0" y="396041"/>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9" id="9"/>
          <p:cNvSpPr txBox="true"/>
          <p:nvPr/>
        </p:nvSpPr>
        <p:spPr>
          <a:xfrm rot="0">
            <a:off x="4908583" y="4475903"/>
            <a:ext cx="6749381" cy="1201844"/>
          </a:xfrm>
          <a:prstGeom prst="rect">
            <a:avLst/>
          </a:prstGeom>
        </p:spPr>
        <p:txBody>
          <a:bodyPr anchor="t" rtlCol="false" tIns="0" lIns="0" bIns="0" rIns="0">
            <a:spAutoFit/>
          </a:bodyPr>
          <a:lstStyle/>
          <a:p>
            <a:pPr algn="l">
              <a:lnSpc>
                <a:spcPts val="9881"/>
              </a:lnSpc>
            </a:pPr>
            <a:r>
              <a:rPr lang="en-US" sz="7058">
                <a:solidFill>
                  <a:srgbClr val="2D1A52"/>
                </a:solidFill>
                <a:latin typeface="League Spartan"/>
                <a:ea typeface="League Spartan"/>
                <a:cs typeface="League Spartan"/>
                <a:sym typeface="League Spartan"/>
              </a:rPr>
              <a:t>TERIMA KASIH</a:t>
            </a:r>
          </a:p>
        </p:txBody>
      </p:sp>
    </p:spTree>
  </p:cSld>
  <p:clrMapOvr>
    <a:masterClrMapping/>
  </p:clrMapOvr>
  <p:transition spd="fast">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DAG7948dkOE</dc:identifier>
  <dcterms:modified xsi:type="dcterms:W3CDTF">2011-08-01T06:04:30Z</dcterms:modified>
  <cp:revision>1</cp:revision>
  <dc:title>Mini Project</dc:title>
</cp:coreProperties>
</file>